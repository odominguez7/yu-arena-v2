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Montserrat"/>
      <p:regular r:id="rId24"/>
      <p:bold r:id="rId25"/>
      <p:italic r:id="rId26"/>
      <p:boldItalic r:id="rId27"/>
    </p:embeddedFont>
    <p:embeddedFont>
      <p:font typeface="Helvetica Neue"/>
      <p:regular r:id="rId28"/>
      <p:bold r:id="rId29"/>
      <p:italic r:id="rId30"/>
      <p:boldItalic r:id="rId31"/>
    </p:embeddedFont>
    <p:embeddedFont>
      <p:font typeface="Barlow"/>
      <p:bold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HelveticaNeue-regular.fntdata"/><Relationship Id="rId27" Type="http://schemas.openxmlformats.org/officeDocument/2006/relationships/font" Target="fonts/Montserra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5.xml"/><Relationship Id="rId33" Type="http://schemas.openxmlformats.org/officeDocument/2006/relationships/font" Target="fonts/Barlow-boldItalic.fntdata"/><Relationship Id="rId10" Type="http://schemas.openxmlformats.org/officeDocument/2006/relationships/slide" Target="slides/slide4.xml"/><Relationship Id="rId32" Type="http://schemas.openxmlformats.org/officeDocument/2006/relationships/font" Target="fonts/Barlow-bold.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3c572aaeb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3c572aaeb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3c572aaeb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3c572aaeb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3c644b1e7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3c644b1e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3c644b1e7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3c644b1e7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3c644b1e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3c644b1e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3c644b1e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3c644b1e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3cb9f28b6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93cb9f28b6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93cb9f28b6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3cb9f28b6_0_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93cb9f28b6_0_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93cb9f28b6_0_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3cb9f28b6_0_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93cb9f28b6_0_7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93cb9f28b6_0_7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3cb9f28b6_0_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93cb9f28b6_0_9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g393cb9f28b6_0_9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3cb9f28b6_0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93cb9f28b6_0_1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93cb9f28b6_0_1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93cb9f28b6_0_1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393cb9f28b6_0_13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393cb9f28b6_0_13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3cb9f28b6_0_1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93cb9f28b6_0_15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g393cb9f28b6_0_15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3cb9f28b6_0_1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93cb9f28b6_0_17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93cb9f28b6_0_17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3cb9f28b6_0_19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93cb9f28b6_0_19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93cb9f28b6_0_19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93cb9f28b6_0_2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93cb9f28b6_0_2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393cb9f28b6_0_2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93cb9f28b6_0_2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93cb9f28b6_0_23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393cb9f28b6_0_23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A31F34"/>
              </a:buClr>
              <a:buSzPts val="5200"/>
              <a:buFont typeface="Helvetica Neue"/>
              <a:buNone/>
              <a:defRPr b="1" sz="5200">
                <a:solidFill>
                  <a:srgbClr val="A31F34"/>
                </a:solidFill>
                <a:latin typeface="Helvetica Neue"/>
                <a:ea typeface="Helvetica Neue"/>
                <a:cs typeface="Helvetica Neue"/>
                <a:sym typeface="Helvetica Neu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9" name="Google Shape;59;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Helvetica Neue"/>
              <a:buNone/>
              <a:defRPr sz="2800">
                <a:latin typeface="Helvetica Neue"/>
                <a:ea typeface="Helvetica Neue"/>
                <a:cs typeface="Helvetica Neue"/>
                <a:sym typeface="Helvetica Neu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0" name="Google Shape;60;p14"/>
          <p:cNvSpPr/>
          <p:nvPr/>
        </p:nvSpPr>
        <p:spPr>
          <a:xfrm>
            <a:off x="165600" y="4596925"/>
            <a:ext cx="8812800" cy="66300"/>
          </a:xfrm>
          <a:prstGeom prst="rect">
            <a:avLst/>
          </a:prstGeom>
          <a:solidFill>
            <a:srgbClr val="A61C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Font typeface="Helvetica Neue"/>
              <a:buNone/>
              <a:defRPr sz="3600">
                <a:latin typeface="Helvetica Neue"/>
                <a:ea typeface="Helvetica Neue"/>
                <a:cs typeface="Helvetica Neue"/>
                <a:sym typeface="Helvetica Neu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3" name="Google Shape;6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980000"/>
              </a:buClr>
              <a:buSzPts val="2800"/>
              <a:buFont typeface="Helvetica Neue"/>
              <a:buNone/>
              <a:defRPr b="1">
                <a:solidFill>
                  <a:srgbClr val="980000"/>
                </a:solidFill>
                <a:latin typeface="Helvetica Neue"/>
                <a:ea typeface="Helvetica Neue"/>
                <a:cs typeface="Helvetica Neue"/>
                <a:sym typeface="Helvetica Neu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Helvetica Neue"/>
              <a:buChar char="●"/>
              <a:defRPr>
                <a:solidFill>
                  <a:schemeClr val="dk1"/>
                </a:solidFill>
                <a:latin typeface="Helvetica Neue"/>
                <a:ea typeface="Helvetica Neue"/>
                <a:cs typeface="Helvetica Neue"/>
                <a:sym typeface="Helvetica Neue"/>
              </a:defRPr>
            </a:lvl1pPr>
            <a:lvl2pPr indent="-317500" lvl="1" marL="914400">
              <a:spcBef>
                <a:spcPts val="0"/>
              </a:spcBef>
              <a:spcAft>
                <a:spcPts val="0"/>
              </a:spcAft>
              <a:buSzPts val="1400"/>
              <a:buFont typeface="Helvetica Neue"/>
              <a:buChar char="○"/>
              <a:defRPr>
                <a:latin typeface="Helvetica Neue"/>
                <a:ea typeface="Helvetica Neue"/>
                <a:cs typeface="Helvetica Neue"/>
                <a:sym typeface="Helvetica Neue"/>
              </a:defRPr>
            </a:lvl2pPr>
            <a:lvl3pPr indent="-317500" lvl="2" marL="1371600">
              <a:spcBef>
                <a:spcPts val="0"/>
              </a:spcBef>
              <a:spcAft>
                <a:spcPts val="0"/>
              </a:spcAft>
              <a:buSzPts val="1400"/>
              <a:buFont typeface="Helvetica Neue"/>
              <a:buChar char="■"/>
              <a:defRPr>
                <a:latin typeface="Helvetica Neue"/>
                <a:ea typeface="Helvetica Neue"/>
                <a:cs typeface="Helvetica Neue"/>
                <a:sym typeface="Helvetica Neue"/>
              </a:defRPr>
            </a:lvl3pPr>
            <a:lvl4pPr indent="-317500" lvl="3" marL="1828800">
              <a:spcBef>
                <a:spcPts val="0"/>
              </a:spcBef>
              <a:spcAft>
                <a:spcPts val="0"/>
              </a:spcAft>
              <a:buSzPts val="1400"/>
              <a:buFont typeface="Helvetica Neue"/>
              <a:buChar char="●"/>
              <a:defRPr>
                <a:latin typeface="Helvetica Neue"/>
                <a:ea typeface="Helvetica Neue"/>
                <a:cs typeface="Helvetica Neue"/>
                <a:sym typeface="Helvetica Neue"/>
              </a:defRPr>
            </a:lvl4pPr>
            <a:lvl5pPr indent="-317500" lvl="4" marL="2286000">
              <a:spcBef>
                <a:spcPts val="0"/>
              </a:spcBef>
              <a:spcAft>
                <a:spcPts val="0"/>
              </a:spcAft>
              <a:buSzPts val="1400"/>
              <a:buFont typeface="Helvetica Neue"/>
              <a:buChar char="○"/>
              <a:defRPr>
                <a:latin typeface="Helvetica Neue"/>
                <a:ea typeface="Helvetica Neue"/>
                <a:cs typeface="Helvetica Neue"/>
                <a:sym typeface="Helvetica Neue"/>
              </a:defRPr>
            </a:lvl5pPr>
            <a:lvl6pPr indent="-317500" lvl="5" marL="2743200">
              <a:spcBef>
                <a:spcPts val="0"/>
              </a:spcBef>
              <a:spcAft>
                <a:spcPts val="0"/>
              </a:spcAft>
              <a:buSzPts val="1400"/>
              <a:buFont typeface="Helvetica Neue"/>
              <a:buChar char="■"/>
              <a:defRPr>
                <a:latin typeface="Helvetica Neue"/>
                <a:ea typeface="Helvetica Neue"/>
                <a:cs typeface="Helvetica Neue"/>
                <a:sym typeface="Helvetica Neue"/>
              </a:defRPr>
            </a:lvl6pPr>
            <a:lvl7pPr indent="-317500" lvl="6" marL="3200400">
              <a:spcBef>
                <a:spcPts val="0"/>
              </a:spcBef>
              <a:spcAft>
                <a:spcPts val="0"/>
              </a:spcAft>
              <a:buSzPts val="1400"/>
              <a:buFont typeface="Helvetica Neue"/>
              <a:buChar char="●"/>
              <a:defRPr>
                <a:latin typeface="Helvetica Neue"/>
                <a:ea typeface="Helvetica Neue"/>
                <a:cs typeface="Helvetica Neue"/>
                <a:sym typeface="Helvetica Neue"/>
              </a:defRPr>
            </a:lvl7pPr>
            <a:lvl8pPr indent="-317500" lvl="7" marL="3657600">
              <a:spcBef>
                <a:spcPts val="0"/>
              </a:spcBef>
              <a:spcAft>
                <a:spcPts val="0"/>
              </a:spcAft>
              <a:buSzPts val="1400"/>
              <a:buFont typeface="Helvetica Neue"/>
              <a:buChar char="○"/>
              <a:defRPr>
                <a:latin typeface="Helvetica Neue"/>
                <a:ea typeface="Helvetica Neue"/>
                <a:cs typeface="Helvetica Neue"/>
                <a:sym typeface="Helvetica Neue"/>
              </a:defRPr>
            </a:lvl8pPr>
            <a:lvl9pPr indent="-317500" lvl="8" marL="4114800">
              <a:spcBef>
                <a:spcPts val="0"/>
              </a:spcBef>
              <a:spcAft>
                <a:spcPts val="0"/>
              </a:spcAft>
              <a:buSzPts val="1400"/>
              <a:buFont typeface="Helvetica Neue"/>
              <a:buChar char="■"/>
              <a:defRPr>
                <a:latin typeface="Helvetica Neue"/>
                <a:ea typeface="Helvetica Neue"/>
                <a:cs typeface="Helvetica Neue"/>
                <a:sym typeface="Helvetica Neue"/>
              </a:defRPr>
            </a:lvl9pPr>
          </a:lstStyle>
          <a:p/>
        </p:txBody>
      </p:sp>
      <p:sp>
        <p:nvSpPr>
          <p:cNvPr id="67" name="Google Shape;6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6" name="Google Shape;86;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8" name="Google Shape;8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91" name="Google Shape;9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4" name="Google Shape;94;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5" name="Google Shape;9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25"/>
          <p:cNvSpPr txBox="1"/>
          <p:nvPr>
            <p:ph type="title"/>
          </p:nvPr>
        </p:nvSpPr>
        <p:spPr>
          <a:xfrm>
            <a:off x="486725" y="812000"/>
            <a:ext cx="7107300" cy="696000"/>
          </a:xfrm>
          <a:prstGeom prst="rect">
            <a:avLst/>
          </a:prstGeom>
          <a:noFill/>
          <a:ln>
            <a:noFill/>
          </a:ln>
        </p:spPr>
        <p:txBody>
          <a:bodyPr anchorCtr="0" anchor="ctr" bIns="45700" lIns="91425" spcFirstLastPara="1" rIns="91425" wrap="square" tIns="45700">
            <a:noAutofit/>
          </a:bodyPr>
          <a:lstStyle>
            <a:lvl1pPr lvl="0" marR="0" algn="l">
              <a:lnSpc>
                <a:spcPct val="117647"/>
              </a:lnSpc>
              <a:spcBef>
                <a:spcPts val="0"/>
              </a:spcBef>
              <a:spcAft>
                <a:spcPts val="0"/>
              </a:spcAft>
              <a:buSzPts val="1000"/>
              <a:buFont typeface="Helvetica Neue"/>
              <a:buNone/>
              <a:defRPr b="1" i="0" sz="3000" u="none" cap="none" strike="noStrike">
                <a:solidFill>
                  <a:srgbClr val="993333"/>
                </a:solidFill>
                <a:latin typeface="Helvetica Neue"/>
                <a:ea typeface="Helvetica Neue"/>
                <a:cs typeface="Helvetica Neue"/>
                <a:sym typeface="Helvetica Neue"/>
              </a:defRPr>
            </a:lvl1pPr>
            <a:lvl2pPr lvl="1"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2pPr>
            <a:lvl3pPr lvl="2"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3pPr>
            <a:lvl4pPr lvl="3"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4pPr>
            <a:lvl5pPr lvl="4"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5pPr>
            <a:lvl6pPr lvl="5"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6pPr>
            <a:lvl7pPr lvl="6"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7pPr>
            <a:lvl8pPr lvl="7"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8pPr>
            <a:lvl9pPr lvl="8"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9pPr>
          </a:lstStyle>
          <a:p/>
        </p:txBody>
      </p:sp>
      <p:sp>
        <p:nvSpPr>
          <p:cNvPr id="100" name="Google Shape;100;p25"/>
          <p:cNvSpPr txBox="1"/>
          <p:nvPr>
            <p:ph idx="2" type="title"/>
          </p:nvPr>
        </p:nvSpPr>
        <p:spPr>
          <a:xfrm>
            <a:off x="580425" y="1508000"/>
            <a:ext cx="4541100" cy="818700"/>
          </a:xfrm>
          <a:prstGeom prst="rect">
            <a:avLst/>
          </a:prstGeom>
          <a:noFill/>
          <a:ln>
            <a:noFill/>
          </a:ln>
        </p:spPr>
        <p:txBody>
          <a:bodyPr anchorCtr="0" anchor="ctr" bIns="45700" lIns="91425" spcFirstLastPara="1" rIns="91425" wrap="square" tIns="45700">
            <a:noAutofit/>
          </a:bodyPr>
          <a:lstStyle>
            <a:lvl1pPr lvl="0" marR="0" algn="l">
              <a:lnSpc>
                <a:spcPct val="117647"/>
              </a:lnSpc>
              <a:spcBef>
                <a:spcPts val="0"/>
              </a:spcBef>
              <a:spcAft>
                <a:spcPts val="0"/>
              </a:spcAft>
              <a:buClr>
                <a:srgbClr val="993333"/>
              </a:buClr>
              <a:buSzPts val="500"/>
              <a:buFont typeface="Helvetica Neue"/>
              <a:buNone/>
              <a:defRPr i="0" sz="2500" u="none" cap="none" strike="noStrike">
                <a:solidFill>
                  <a:srgbClr val="993333"/>
                </a:solidFill>
                <a:latin typeface="Helvetica Neue"/>
                <a:ea typeface="Helvetica Neue"/>
                <a:cs typeface="Helvetica Neue"/>
                <a:sym typeface="Helvetica Neue"/>
              </a:defRPr>
            </a:lvl1pPr>
            <a:lvl2pPr lvl="1"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2pPr>
            <a:lvl3pPr lvl="2"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3pPr>
            <a:lvl4pPr lvl="3"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4pPr>
            <a:lvl5pPr lvl="4"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5pPr>
            <a:lvl6pPr lvl="5"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6pPr>
            <a:lvl7pPr lvl="6"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7pPr>
            <a:lvl8pPr lvl="7"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8pPr>
            <a:lvl9pPr lvl="8"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101" name="Shape 101"/>
        <p:cNvGrpSpPr/>
        <p:nvPr/>
      </p:nvGrpSpPr>
      <p:grpSpPr>
        <a:xfrm>
          <a:off x="0" y="0"/>
          <a:ext cx="0" cy="0"/>
          <a:chOff x="0" y="0"/>
          <a:chExt cx="0" cy="0"/>
        </a:xfrm>
      </p:grpSpPr>
      <p:sp>
        <p:nvSpPr>
          <p:cNvPr id="102" name="Google Shape;102;p26"/>
          <p:cNvSpPr txBox="1"/>
          <p:nvPr>
            <p:ph idx="12" type="sldNum"/>
          </p:nvPr>
        </p:nvSpPr>
        <p:spPr>
          <a:xfrm>
            <a:off x="8390375" y="78600"/>
            <a:ext cx="683700" cy="3024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rPr lang="en"/>
              <a:t>Page </a:t>
            </a:r>
            <a:fld id="{00000000-1234-1234-1234-123412341234}" type="slidenum">
              <a:rPr lang="en"/>
              <a:t>‹#›</a:t>
            </a:fld>
            <a:endParaRPr>
              <a:solidFill>
                <a:srgbClr val="000000"/>
              </a:solidFill>
              <a:latin typeface="Arial"/>
              <a:ea typeface="Arial"/>
              <a:cs typeface="Arial"/>
              <a:sym typeface="Arial"/>
            </a:endParaRPr>
          </a:p>
        </p:txBody>
      </p:sp>
      <p:sp>
        <p:nvSpPr>
          <p:cNvPr id="103" name="Google Shape;103;p26"/>
          <p:cNvSpPr txBox="1"/>
          <p:nvPr>
            <p:ph type="title"/>
          </p:nvPr>
        </p:nvSpPr>
        <p:spPr>
          <a:xfrm>
            <a:off x="106250" y="253750"/>
            <a:ext cx="7107300" cy="696000"/>
          </a:xfrm>
          <a:prstGeom prst="rect">
            <a:avLst/>
          </a:prstGeom>
          <a:noFill/>
          <a:ln>
            <a:noFill/>
          </a:ln>
        </p:spPr>
        <p:txBody>
          <a:bodyPr anchorCtr="0" anchor="ctr" bIns="45700" lIns="91425" spcFirstLastPara="1" rIns="91425" wrap="square" tIns="45700">
            <a:noAutofit/>
          </a:bodyPr>
          <a:lstStyle>
            <a:lvl1pPr lvl="0" marR="0" algn="l">
              <a:lnSpc>
                <a:spcPct val="117647"/>
              </a:lnSpc>
              <a:spcBef>
                <a:spcPts val="0"/>
              </a:spcBef>
              <a:spcAft>
                <a:spcPts val="0"/>
              </a:spcAft>
              <a:buSzPts val="1000"/>
              <a:buFont typeface="Helvetica Neue"/>
              <a:buNone/>
              <a:defRPr b="1" i="0" sz="3000" u="none" cap="none" strike="noStrike">
                <a:solidFill>
                  <a:srgbClr val="993333"/>
                </a:solidFill>
                <a:latin typeface="Helvetica Neue"/>
                <a:ea typeface="Helvetica Neue"/>
                <a:cs typeface="Helvetica Neue"/>
                <a:sym typeface="Helvetica Neue"/>
              </a:defRPr>
            </a:lvl1pPr>
            <a:lvl2pPr lvl="1"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2pPr>
            <a:lvl3pPr lvl="2"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3pPr>
            <a:lvl4pPr lvl="3"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4pPr>
            <a:lvl5pPr lvl="4"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5pPr>
            <a:lvl6pPr lvl="5"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6pPr>
            <a:lvl7pPr lvl="6"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7pPr>
            <a:lvl8pPr lvl="7"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8pPr>
            <a:lvl9pPr lvl="8" marR="0" algn="l">
              <a:lnSpc>
                <a:spcPct val="117647"/>
              </a:lnSpc>
              <a:spcBef>
                <a:spcPts val="0"/>
              </a:spcBef>
              <a:spcAft>
                <a:spcPts val="0"/>
              </a:spcAft>
              <a:buSzPts val="2800"/>
              <a:buNone/>
              <a:defRPr b="1" i="0" sz="3400" u="none" cap="none" strike="noStrike">
                <a:solidFill>
                  <a:srgbClr val="993333"/>
                </a:solidFill>
                <a:latin typeface="Arial"/>
                <a:ea typeface="Arial"/>
                <a:cs typeface="Arial"/>
                <a:sym typeface="Arial"/>
              </a:defRPr>
            </a:lvl9pPr>
          </a:lstStyle>
          <a:p/>
        </p:txBody>
      </p:sp>
      <p:sp>
        <p:nvSpPr>
          <p:cNvPr id="104" name="Google Shape;104;p26"/>
          <p:cNvSpPr txBox="1"/>
          <p:nvPr>
            <p:ph idx="1" type="body"/>
          </p:nvPr>
        </p:nvSpPr>
        <p:spPr>
          <a:xfrm>
            <a:off x="289650" y="1004850"/>
            <a:ext cx="7221600" cy="3086100"/>
          </a:xfrm>
          <a:prstGeom prst="rect">
            <a:avLst/>
          </a:prstGeom>
          <a:noFill/>
          <a:ln>
            <a:noFill/>
          </a:ln>
        </p:spPr>
        <p:txBody>
          <a:bodyPr anchorCtr="0" anchor="t" bIns="45700" lIns="91425" spcFirstLastPara="1" rIns="91425" wrap="square" tIns="45700">
            <a:noAutofit/>
          </a:bodyPr>
          <a:lstStyle>
            <a:lvl1pPr indent="-349250" lvl="0" marL="457200" marR="0" algn="l">
              <a:lnSpc>
                <a:spcPct val="117391"/>
              </a:lnSpc>
              <a:spcBef>
                <a:spcPts val="0"/>
              </a:spcBef>
              <a:spcAft>
                <a:spcPts val="0"/>
              </a:spcAft>
              <a:buClr>
                <a:srgbClr val="993333"/>
              </a:buClr>
              <a:buSzPts val="1900"/>
              <a:buFont typeface="Open Sans"/>
              <a:buChar char="•"/>
              <a:defRPr i="0" sz="1900" u="none" cap="none" strike="noStrike">
                <a:solidFill>
                  <a:schemeClr val="dk1"/>
                </a:solidFill>
                <a:latin typeface="Open Sans"/>
                <a:ea typeface="Open Sans"/>
                <a:cs typeface="Open Sans"/>
                <a:sym typeface="Open Sans"/>
              </a:defRPr>
            </a:lvl1pPr>
            <a:lvl2pPr indent="-349250" lvl="1" marL="914400" marR="0" algn="l">
              <a:lnSpc>
                <a:spcPct val="121739"/>
              </a:lnSpc>
              <a:spcBef>
                <a:spcPts val="1400"/>
              </a:spcBef>
              <a:spcAft>
                <a:spcPts val="0"/>
              </a:spcAft>
              <a:buClr>
                <a:schemeClr val="dk1"/>
              </a:buClr>
              <a:buSzPts val="1900"/>
              <a:buFont typeface="Open Sans"/>
              <a:buChar char="–"/>
              <a:defRPr i="0" sz="1900" u="none" cap="none" strike="noStrike">
                <a:solidFill>
                  <a:schemeClr val="dk1"/>
                </a:solidFill>
                <a:latin typeface="Open Sans"/>
                <a:ea typeface="Open Sans"/>
                <a:cs typeface="Open Sans"/>
                <a:sym typeface="Open Sans"/>
              </a:defRPr>
            </a:lvl2pPr>
            <a:lvl3pPr indent="-349250" lvl="2" marL="1371600" marR="0" algn="l">
              <a:spcBef>
                <a:spcPts val="1400"/>
              </a:spcBef>
              <a:spcAft>
                <a:spcPts val="0"/>
              </a:spcAft>
              <a:buClr>
                <a:srgbClr val="993333"/>
              </a:buClr>
              <a:buSzPts val="1900"/>
              <a:buFont typeface="Open Sans"/>
              <a:buChar char="•"/>
              <a:defRPr i="0" sz="1900" u="none" cap="none" strike="noStrike">
                <a:solidFill>
                  <a:schemeClr val="dk1"/>
                </a:solidFill>
                <a:latin typeface="Open Sans"/>
                <a:ea typeface="Open Sans"/>
                <a:cs typeface="Open Sans"/>
                <a:sym typeface="Open Sans"/>
              </a:defRPr>
            </a:lvl3pPr>
            <a:lvl4pPr indent="-228600" lvl="3" marL="1828800" marR="0" algn="l">
              <a:spcBef>
                <a:spcPts val="400"/>
              </a:spcBef>
              <a:spcAft>
                <a:spcPts val="0"/>
              </a:spcAft>
              <a:buSzPts val="1200"/>
              <a:buFont typeface="Open Sans"/>
              <a:buNone/>
              <a:defRPr i="0" sz="1800" u="none" cap="none" strike="noStrike">
                <a:solidFill>
                  <a:schemeClr val="dk1"/>
                </a:solidFill>
                <a:latin typeface="Open Sans"/>
                <a:ea typeface="Open Sans"/>
                <a:cs typeface="Open Sans"/>
                <a:sym typeface="Open Sans"/>
              </a:defRPr>
            </a:lvl4pPr>
            <a:lvl5pPr indent="-342900" lvl="4" marL="2286000" marR="0" algn="l">
              <a:spcBef>
                <a:spcPts val="4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5pPr>
            <a:lvl6pPr indent="-342900" lvl="5" marL="2743200" marR="0" algn="l">
              <a:spcBef>
                <a:spcPts val="4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6pPr>
            <a:lvl7pPr indent="-342900" lvl="6" marL="3200400" marR="0" algn="l">
              <a:spcBef>
                <a:spcPts val="4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7pPr>
            <a:lvl8pPr indent="-342900" lvl="7" marL="3657600" marR="0" algn="l">
              <a:spcBef>
                <a:spcPts val="4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8pPr>
            <a:lvl9pPr indent="-342900" lvl="8" marL="4114800" marR="0" algn="l">
              <a:spcBef>
                <a:spcPts val="4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5" name="Shape 105"/>
        <p:cNvGrpSpPr/>
        <p:nvPr/>
      </p:nvGrpSpPr>
      <p:grpSpPr>
        <a:xfrm>
          <a:off x="0" y="0"/>
          <a:ext cx="0" cy="0"/>
          <a:chOff x="0" y="0"/>
          <a:chExt cx="0" cy="0"/>
        </a:xfrm>
      </p:grpSpPr>
      <p:pic>
        <p:nvPicPr>
          <p:cNvPr descr="preencoded.png" id="106" name="Google Shape;106;p2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07" name="Google Shape;107;p27"/>
          <p:cNvSpPr/>
          <p:nvPr/>
        </p:nvSpPr>
        <p:spPr>
          <a:xfrm>
            <a:off x="0" y="0"/>
            <a:ext cx="9144000" cy="5143500"/>
          </a:xfrm>
          <a:prstGeom prst="rect">
            <a:avLst/>
          </a:prstGeom>
          <a:solidFill>
            <a:srgbClr val="EEEFF5"/>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5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8" name="Shape 10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6" Type="http://schemas.openxmlformats.org/officeDocument/2006/relationships/slideLayout" Target="../slideLayouts/slideLayout15.xml"/><Relationship Id="rId18" Type="http://schemas.openxmlformats.org/officeDocument/2006/relationships/theme" Target="../theme/theme3.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A31F34"/>
              </a:buClr>
              <a:buSzPts val="2800"/>
              <a:buFont typeface="Helvetica Neue"/>
              <a:buNone/>
              <a:defRPr b="1" sz="2800">
                <a:solidFill>
                  <a:srgbClr val="A31F34"/>
                </a:solidFill>
                <a:latin typeface="Helvetica Neue"/>
                <a:ea typeface="Helvetica Neue"/>
                <a:cs typeface="Helvetica Neue"/>
                <a:sym typeface="Helvetica Neu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Helvetica Neue"/>
              <a:buChar char="●"/>
              <a:defRPr sz="1800">
                <a:solidFill>
                  <a:schemeClr val="dk1"/>
                </a:solidFill>
                <a:latin typeface="Helvetica Neue"/>
                <a:ea typeface="Helvetica Neue"/>
                <a:cs typeface="Helvetica Neue"/>
                <a:sym typeface="Helvetica Neue"/>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nvSpPr>
        <p:spPr>
          <a:xfrm>
            <a:off x="2285000" y="4663225"/>
            <a:ext cx="4294800" cy="3153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b="1" lang="en" sz="1200">
                <a:solidFill>
                  <a:srgbClr val="A31F34"/>
                </a:solidFill>
              </a:rPr>
              <a:t>AI Agents and Agentic Web</a:t>
            </a:r>
            <a:endParaRPr b="1" sz="1200">
              <a:solidFill>
                <a:srgbClr val="A31F34"/>
              </a:solidFill>
            </a:endParaRPr>
          </a:p>
          <a:p>
            <a:pPr indent="0" lvl="0" marL="0" rtl="0" algn="ctr">
              <a:lnSpc>
                <a:spcPct val="115000"/>
              </a:lnSpc>
              <a:spcBef>
                <a:spcPts val="0"/>
              </a:spcBef>
              <a:spcAft>
                <a:spcPts val="0"/>
              </a:spcAft>
              <a:buNone/>
            </a:pPr>
            <a:r>
              <a:rPr b="1" lang="en" sz="700">
                <a:solidFill>
                  <a:srgbClr val="4E4E4E"/>
                </a:solidFill>
              </a:rPr>
              <a:t>MAS.664 / MAS.665 / EC.731 / IDS.865</a:t>
            </a:r>
            <a:endParaRPr b="1" sz="700">
              <a:solidFill>
                <a:srgbClr val="4E4E4E"/>
              </a:solidFill>
            </a:endParaRPr>
          </a:p>
          <a:p>
            <a:pPr indent="0" lvl="0" marL="0" rtl="0" algn="l">
              <a:lnSpc>
                <a:spcPct val="115000"/>
              </a:lnSpc>
              <a:spcBef>
                <a:spcPts val="1800"/>
              </a:spcBef>
              <a:spcAft>
                <a:spcPts val="0"/>
              </a:spcAft>
              <a:buNone/>
            </a:pPr>
            <a:r>
              <a:t/>
            </a:r>
            <a:endParaRPr sz="300">
              <a:solidFill>
                <a:schemeClr val="dk1"/>
              </a:solidFill>
            </a:endParaRPr>
          </a:p>
          <a:p>
            <a:pPr indent="0" lvl="0" marL="0" rtl="0" algn="ctr">
              <a:spcBef>
                <a:spcPts val="0"/>
              </a:spcBef>
              <a:spcAft>
                <a:spcPts val="0"/>
              </a:spcAft>
              <a:buNone/>
            </a:pPr>
            <a:r>
              <a:t/>
            </a:r>
            <a:endParaRPr b="1" sz="200">
              <a:solidFill>
                <a:srgbClr val="980000"/>
              </a:solidFill>
              <a:latin typeface="Helvetica Neue"/>
              <a:ea typeface="Helvetica Neue"/>
              <a:cs typeface="Helvetica Neue"/>
              <a:sym typeface="Helvetica Neue"/>
            </a:endParaRPr>
          </a:p>
        </p:txBody>
      </p:sp>
      <p:pic>
        <p:nvPicPr>
          <p:cNvPr id="54" name="Google Shape;54;p13"/>
          <p:cNvPicPr preferRelativeResize="0"/>
          <p:nvPr/>
        </p:nvPicPr>
        <p:blipFill>
          <a:blip r:embed="rId1">
            <a:alphaModFix/>
          </a:blip>
          <a:stretch>
            <a:fillRect/>
          </a:stretch>
        </p:blipFill>
        <p:spPr>
          <a:xfrm>
            <a:off x="8078475" y="4704089"/>
            <a:ext cx="548700" cy="352736"/>
          </a:xfrm>
          <a:prstGeom prst="rect">
            <a:avLst/>
          </a:prstGeom>
          <a:noFill/>
          <a:ln>
            <a:noFill/>
          </a:ln>
        </p:spPr>
      </p:pic>
      <p:sp>
        <p:nvSpPr>
          <p:cNvPr id="55" name="Google Shape;55;p13"/>
          <p:cNvSpPr/>
          <p:nvPr/>
        </p:nvSpPr>
        <p:spPr>
          <a:xfrm>
            <a:off x="165600" y="4596925"/>
            <a:ext cx="8812800" cy="66300"/>
          </a:xfrm>
          <a:prstGeom prst="rect">
            <a:avLst/>
          </a:prstGeom>
          <a:solidFill>
            <a:srgbClr val="A61C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2">
            <a:alphaModFix/>
          </a:blip>
          <a:stretch>
            <a:fillRect/>
          </a:stretch>
        </p:blipFill>
        <p:spPr>
          <a:xfrm>
            <a:off x="165600" y="4705900"/>
            <a:ext cx="395400" cy="393600"/>
          </a:xfrm>
          <a:prstGeom prst="flowChartAlternateProcess">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9"/>
          <p:cNvSpPr txBox="1"/>
          <p:nvPr>
            <p:ph type="ctrTitle"/>
          </p:nvPr>
        </p:nvSpPr>
        <p:spPr>
          <a:xfrm>
            <a:off x="311708" y="1196412"/>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Research</a:t>
            </a:r>
            <a:r>
              <a:rPr lang="en"/>
              <a:t> Problems in the Agentic Web</a:t>
            </a:r>
            <a:endParaRPr/>
          </a:p>
        </p:txBody>
      </p:sp>
      <p:sp>
        <p:nvSpPr>
          <p:cNvPr id="114" name="Google Shape;114;p29"/>
          <p:cNvSpPr txBox="1"/>
          <p:nvPr>
            <p:ph idx="1" type="subTitle"/>
          </p:nvPr>
        </p:nvSpPr>
        <p:spPr>
          <a:xfrm>
            <a:off x="206300" y="37511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dk2"/>
                </a:solidFill>
              </a:rPr>
              <a:t>Prof. Ramesh Raskar</a:t>
            </a:r>
            <a:endParaRPr sz="2400">
              <a:solidFill>
                <a:schemeClr val="dk2"/>
              </a:solidFill>
            </a:endParaRPr>
          </a:p>
        </p:txBody>
      </p:sp>
      <p:sp>
        <p:nvSpPr>
          <p:cNvPr id="115" name="Google Shape;115;p29"/>
          <p:cNvSpPr txBox="1"/>
          <p:nvPr>
            <p:ph idx="1" type="subTitle"/>
          </p:nvPr>
        </p:nvSpPr>
        <p:spPr>
          <a:xfrm>
            <a:off x="6614375" y="3751100"/>
            <a:ext cx="2338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dk2"/>
                </a:solidFill>
              </a:rPr>
              <a:t>Feb 12, 2025</a:t>
            </a:r>
            <a:endParaRPr sz="24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0"/>
          <p:cNvSpPr txBox="1"/>
          <p:nvPr>
            <p:ph type="title"/>
          </p:nvPr>
        </p:nvSpPr>
        <p:spPr>
          <a:xfrm>
            <a:off x="4144850" y="253750"/>
            <a:ext cx="4314900" cy="696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Internet of AI Agents </a:t>
            </a:r>
            <a:endParaRPr/>
          </a:p>
        </p:txBody>
      </p:sp>
      <p:sp>
        <p:nvSpPr>
          <p:cNvPr id="121" name="Google Shape;121;p30"/>
          <p:cNvSpPr/>
          <p:nvPr/>
        </p:nvSpPr>
        <p:spPr>
          <a:xfrm>
            <a:off x="3774256" y="1295707"/>
            <a:ext cx="5369700" cy="9957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None/>
            </a:pPr>
            <a:r>
              <a:rPr b="0" i="0" lang="en" sz="1800" u="none" cap="none" strike="noStrike">
                <a:solidFill>
                  <a:srgbClr val="272525"/>
                </a:solidFill>
                <a:latin typeface="Montserrat"/>
                <a:ea typeface="Montserrat"/>
                <a:cs typeface="Montserrat"/>
                <a:sym typeface="Montserrat"/>
              </a:rPr>
              <a:t>How can trillions of  AI agents collaborate across a organizational silos: </a:t>
            </a:r>
            <a:endParaRPr b="0" i="0" sz="1800" u="none" cap="none" strike="noStrike">
              <a:solidFill>
                <a:srgbClr val="272525"/>
              </a:solidFill>
              <a:latin typeface="Montserrat"/>
              <a:ea typeface="Montserrat"/>
              <a:cs typeface="Montserrat"/>
              <a:sym typeface="Montserrat"/>
            </a:endParaRPr>
          </a:p>
          <a:p>
            <a:pPr indent="0" lvl="0" marL="0" marR="0" rtl="0" algn="l">
              <a:lnSpc>
                <a:spcPct val="158823"/>
              </a:lnSpc>
              <a:spcBef>
                <a:spcPts val="0"/>
              </a:spcBef>
              <a:spcAft>
                <a:spcPts val="0"/>
              </a:spcAft>
              <a:buNone/>
            </a:pPr>
            <a:r>
              <a:rPr b="1" i="0" lang="en" sz="1800" u="none" cap="none" strike="noStrike">
                <a:solidFill>
                  <a:srgbClr val="272525"/>
                </a:solidFill>
                <a:latin typeface="Montserrat"/>
                <a:ea typeface="Montserrat"/>
                <a:cs typeface="Montserrat"/>
                <a:sym typeface="Montserrat"/>
              </a:rPr>
              <a:t>communicate </a:t>
            </a:r>
            <a:r>
              <a:rPr b="0" i="0" lang="en" sz="1800" u="none" cap="none" strike="noStrike">
                <a:solidFill>
                  <a:srgbClr val="272525"/>
                </a:solidFill>
                <a:latin typeface="Montserrat"/>
                <a:ea typeface="Montserrat"/>
                <a:cs typeface="Montserrat"/>
                <a:sym typeface="Montserrat"/>
              </a:rPr>
              <a:t>seamlessly, </a:t>
            </a:r>
            <a:endParaRPr b="0" i="0" sz="1800" u="none" cap="none" strike="noStrike">
              <a:solidFill>
                <a:srgbClr val="272525"/>
              </a:solidFill>
              <a:latin typeface="Montserrat"/>
              <a:ea typeface="Montserrat"/>
              <a:cs typeface="Montserrat"/>
              <a:sym typeface="Montserrat"/>
            </a:endParaRPr>
          </a:p>
          <a:p>
            <a:pPr indent="0" lvl="0" marL="0" marR="0" rtl="0" algn="l">
              <a:lnSpc>
                <a:spcPct val="158823"/>
              </a:lnSpc>
              <a:spcBef>
                <a:spcPts val="0"/>
              </a:spcBef>
              <a:spcAft>
                <a:spcPts val="0"/>
              </a:spcAft>
              <a:buNone/>
            </a:pPr>
            <a:r>
              <a:rPr b="1" i="0" lang="en" sz="1800" u="none" cap="none" strike="noStrike">
                <a:solidFill>
                  <a:srgbClr val="272525"/>
                </a:solidFill>
                <a:latin typeface="Montserrat"/>
                <a:ea typeface="Montserrat"/>
                <a:cs typeface="Montserrat"/>
                <a:sym typeface="Montserrat"/>
              </a:rPr>
              <a:t>navigate </a:t>
            </a:r>
            <a:r>
              <a:rPr b="0" i="0" lang="en" sz="1800" u="none" cap="none" strike="noStrike">
                <a:solidFill>
                  <a:srgbClr val="272525"/>
                </a:solidFill>
                <a:latin typeface="Montserrat"/>
                <a:ea typeface="Montserrat"/>
                <a:cs typeface="Montserrat"/>
                <a:sym typeface="Montserrat"/>
              </a:rPr>
              <a:t>autonomously, </a:t>
            </a:r>
            <a:endParaRPr b="0" i="0" sz="1800" u="none" cap="none" strike="noStrike">
              <a:solidFill>
                <a:srgbClr val="272525"/>
              </a:solidFill>
              <a:latin typeface="Montserrat"/>
              <a:ea typeface="Montserrat"/>
              <a:cs typeface="Montserrat"/>
              <a:sym typeface="Montserrat"/>
            </a:endParaRPr>
          </a:p>
          <a:p>
            <a:pPr indent="0" lvl="0" marL="0" marR="0" rtl="0" algn="l">
              <a:lnSpc>
                <a:spcPct val="158823"/>
              </a:lnSpc>
              <a:spcBef>
                <a:spcPts val="0"/>
              </a:spcBef>
              <a:spcAft>
                <a:spcPts val="0"/>
              </a:spcAft>
              <a:buNone/>
            </a:pPr>
            <a:r>
              <a:rPr b="1" i="0" lang="en" sz="1800" u="none" cap="none" strike="noStrike">
                <a:solidFill>
                  <a:srgbClr val="272525"/>
                </a:solidFill>
                <a:latin typeface="Montserrat"/>
                <a:ea typeface="Montserrat"/>
                <a:cs typeface="Montserrat"/>
                <a:sym typeface="Montserrat"/>
              </a:rPr>
              <a:t>socialize, </a:t>
            </a:r>
            <a:endParaRPr b="1" i="0" sz="1800" u="none" cap="none" strike="noStrike">
              <a:solidFill>
                <a:srgbClr val="272525"/>
              </a:solidFill>
              <a:latin typeface="Montserrat"/>
              <a:ea typeface="Montserrat"/>
              <a:cs typeface="Montserrat"/>
              <a:sym typeface="Montserrat"/>
            </a:endParaRPr>
          </a:p>
          <a:p>
            <a:pPr indent="0" lvl="0" marL="0" marR="0" rtl="0" algn="l">
              <a:lnSpc>
                <a:spcPct val="158823"/>
              </a:lnSpc>
              <a:spcBef>
                <a:spcPts val="0"/>
              </a:spcBef>
              <a:spcAft>
                <a:spcPts val="0"/>
              </a:spcAft>
              <a:buNone/>
            </a:pPr>
            <a:r>
              <a:rPr b="1" i="0" lang="en" sz="1800" u="none" cap="none" strike="noStrike">
                <a:solidFill>
                  <a:srgbClr val="272525"/>
                </a:solidFill>
                <a:latin typeface="Montserrat"/>
                <a:ea typeface="Montserrat"/>
                <a:cs typeface="Montserrat"/>
                <a:sym typeface="Montserrat"/>
              </a:rPr>
              <a:t>learn, earn</a:t>
            </a:r>
            <a:r>
              <a:rPr b="0" i="0" lang="en" sz="1800" u="none" cap="none" strike="noStrike">
                <a:solidFill>
                  <a:srgbClr val="272525"/>
                </a:solidFill>
                <a:latin typeface="Montserrat"/>
                <a:ea typeface="Montserrat"/>
                <a:cs typeface="Montserrat"/>
                <a:sym typeface="Montserrat"/>
              </a:rPr>
              <a:t> and </a:t>
            </a:r>
            <a:endParaRPr b="0" i="0" sz="1800" u="none" cap="none" strike="noStrike">
              <a:solidFill>
                <a:srgbClr val="272525"/>
              </a:solidFill>
              <a:latin typeface="Montserrat"/>
              <a:ea typeface="Montserrat"/>
              <a:cs typeface="Montserrat"/>
              <a:sym typeface="Montserrat"/>
            </a:endParaRPr>
          </a:p>
          <a:p>
            <a:pPr indent="0" lvl="0" marL="0" marR="0" rtl="0" algn="l">
              <a:lnSpc>
                <a:spcPct val="158823"/>
              </a:lnSpc>
              <a:spcBef>
                <a:spcPts val="0"/>
              </a:spcBef>
              <a:spcAft>
                <a:spcPts val="0"/>
              </a:spcAft>
              <a:buNone/>
            </a:pPr>
            <a:r>
              <a:rPr b="1" i="0" lang="en" sz="1800" u="none" cap="none" strike="noStrike">
                <a:solidFill>
                  <a:srgbClr val="272525"/>
                </a:solidFill>
                <a:latin typeface="Montserrat"/>
                <a:ea typeface="Montserrat"/>
                <a:cs typeface="Montserrat"/>
                <a:sym typeface="Montserrat"/>
              </a:rPr>
              <a:t>transact </a:t>
            </a:r>
            <a:r>
              <a:rPr b="0" i="0" lang="en" sz="1800" u="none" cap="none" strike="noStrike">
                <a:solidFill>
                  <a:srgbClr val="272525"/>
                </a:solidFill>
                <a:latin typeface="Montserrat"/>
                <a:ea typeface="Montserrat"/>
                <a:cs typeface="Montserrat"/>
                <a:sym typeface="Montserrat"/>
              </a:rPr>
              <a:t>on our behalf.</a:t>
            </a:r>
            <a:endParaRPr b="0" i="0" sz="1800" u="none" cap="none" strike="noStrike">
              <a:solidFill>
                <a:srgbClr val="272525"/>
              </a:solidFill>
              <a:latin typeface="Montserrat"/>
              <a:ea typeface="Montserrat"/>
              <a:cs typeface="Montserrat"/>
              <a:sym typeface="Montserrat"/>
            </a:endParaRPr>
          </a:p>
        </p:txBody>
      </p:sp>
      <p:pic>
        <p:nvPicPr>
          <p:cNvPr descr="preencoded.png" id="122" name="Google Shape;122;p30"/>
          <p:cNvPicPr preferRelativeResize="0"/>
          <p:nvPr/>
        </p:nvPicPr>
        <p:blipFill rotWithShape="1">
          <a:blip r:embed="rId3">
            <a:alphaModFix/>
          </a:blip>
          <a:srcRect b="11371" l="0" r="0" t="0"/>
          <a:stretch/>
        </p:blipFill>
        <p:spPr>
          <a:xfrm>
            <a:off x="0" y="0"/>
            <a:ext cx="3429000" cy="4558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1"/>
          <p:cNvSpPr/>
          <p:nvPr/>
        </p:nvSpPr>
        <p:spPr>
          <a:xfrm>
            <a:off x="1262500" y="395225"/>
            <a:ext cx="1585800" cy="5403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Montserrat"/>
                <a:ea typeface="Montserrat"/>
                <a:cs typeface="Montserrat"/>
                <a:sym typeface="Montserrat"/>
              </a:rPr>
              <a:t>Foundations</a:t>
            </a:r>
            <a:endParaRPr b="1" sz="1500">
              <a:latin typeface="Montserrat"/>
              <a:ea typeface="Montserrat"/>
              <a:cs typeface="Montserrat"/>
              <a:sym typeface="Montserrat"/>
            </a:endParaRPr>
          </a:p>
        </p:txBody>
      </p:sp>
      <p:sp>
        <p:nvSpPr>
          <p:cNvPr id="128" name="Google Shape;128;p31"/>
          <p:cNvSpPr/>
          <p:nvPr/>
        </p:nvSpPr>
        <p:spPr>
          <a:xfrm>
            <a:off x="4139202" y="395225"/>
            <a:ext cx="1733700" cy="5403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Montserrat"/>
                <a:ea typeface="Montserrat"/>
                <a:cs typeface="Montserrat"/>
                <a:sym typeface="Montserrat"/>
              </a:rPr>
              <a:t>Agentic Economy</a:t>
            </a:r>
            <a:endParaRPr b="1" sz="1500">
              <a:latin typeface="Montserrat"/>
              <a:ea typeface="Montserrat"/>
              <a:cs typeface="Montserrat"/>
              <a:sym typeface="Montserrat"/>
            </a:endParaRPr>
          </a:p>
        </p:txBody>
      </p:sp>
      <p:sp>
        <p:nvSpPr>
          <p:cNvPr id="129" name="Google Shape;129;p31"/>
          <p:cNvSpPr/>
          <p:nvPr/>
        </p:nvSpPr>
        <p:spPr>
          <a:xfrm>
            <a:off x="6763396" y="395225"/>
            <a:ext cx="1892700" cy="5403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Montserrat"/>
                <a:ea typeface="Montserrat"/>
                <a:cs typeface="Montserrat"/>
                <a:sym typeface="Montserrat"/>
              </a:rPr>
              <a:t>Agentic </a:t>
            </a:r>
            <a:br>
              <a:rPr b="1" lang="en" sz="1500">
                <a:latin typeface="Montserrat"/>
                <a:ea typeface="Montserrat"/>
                <a:cs typeface="Montserrat"/>
                <a:sym typeface="Montserrat"/>
              </a:rPr>
            </a:br>
            <a:r>
              <a:rPr b="1" lang="en" sz="1500">
                <a:latin typeface="Montserrat"/>
                <a:ea typeface="Montserrat"/>
                <a:cs typeface="Montserrat"/>
                <a:sym typeface="Montserrat"/>
              </a:rPr>
              <a:t>Society</a:t>
            </a:r>
            <a:endParaRPr b="1" sz="1500">
              <a:latin typeface="Montserrat"/>
              <a:ea typeface="Montserrat"/>
              <a:cs typeface="Montserrat"/>
              <a:sym typeface="Montserrat"/>
            </a:endParaRPr>
          </a:p>
        </p:txBody>
      </p:sp>
      <p:sp>
        <p:nvSpPr>
          <p:cNvPr id="130" name="Google Shape;130;p31"/>
          <p:cNvSpPr/>
          <p:nvPr/>
        </p:nvSpPr>
        <p:spPr>
          <a:xfrm>
            <a:off x="1467804" y="228163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Index, Registry and Resolution</a:t>
            </a:r>
            <a:endParaRPr sz="900">
              <a:latin typeface="Montserrat"/>
              <a:ea typeface="Montserrat"/>
              <a:cs typeface="Montserrat"/>
              <a:sym typeface="Montserrat"/>
            </a:endParaRPr>
          </a:p>
        </p:txBody>
      </p:sp>
      <p:sp>
        <p:nvSpPr>
          <p:cNvPr id="131" name="Google Shape;131;p31"/>
          <p:cNvSpPr/>
          <p:nvPr/>
        </p:nvSpPr>
        <p:spPr>
          <a:xfrm>
            <a:off x="1714700" y="3383922"/>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Message Bus</a:t>
            </a:r>
            <a:endParaRPr sz="900">
              <a:latin typeface="Montserrat"/>
              <a:ea typeface="Montserrat"/>
              <a:cs typeface="Montserrat"/>
              <a:sym typeface="Montserrat"/>
            </a:endParaRPr>
          </a:p>
          <a:p>
            <a:pPr indent="0" lvl="0" marL="0" rtl="0" algn="ctr">
              <a:spcBef>
                <a:spcPts val="0"/>
              </a:spcBef>
              <a:spcAft>
                <a:spcPts val="0"/>
              </a:spcAft>
              <a:buNone/>
            </a:pPr>
            <a:r>
              <a:rPr lang="en" sz="900">
                <a:latin typeface="Montserrat"/>
                <a:ea typeface="Montserrat"/>
                <a:cs typeface="Montserrat"/>
                <a:sym typeface="Montserrat"/>
              </a:rPr>
              <a:t>A2A, MCP</a:t>
            </a:r>
            <a:endParaRPr sz="900">
              <a:latin typeface="Montserrat"/>
              <a:ea typeface="Montserrat"/>
              <a:cs typeface="Montserrat"/>
              <a:sym typeface="Montserrat"/>
            </a:endParaRPr>
          </a:p>
        </p:txBody>
      </p:sp>
      <p:sp>
        <p:nvSpPr>
          <p:cNvPr id="132" name="Google Shape;132;p31"/>
          <p:cNvSpPr/>
          <p:nvPr/>
        </p:nvSpPr>
        <p:spPr>
          <a:xfrm>
            <a:off x="4988386" y="3383922"/>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AP2</a:t>
            </a:r>
            <a:endParaRPr sz="900">
              <a:latin typeface="Montserrat"/>
              <a:ea typeface="Montserrat"/>
              <a:cs typeface="Montserrat"/>
              <a:sym typeface="Montserrat"/>
            </a:endParaRPr>
          </a:p>
          <a:p>
            <a:pPr indent="0" lvl="0" marL="0" rtl="0" algn="ctr">
              <a:spcBef>
                <a:spcPts val="0"/>
              </a:spcBef>
              <a:spcAft>
                <a:spcPts val="0"/>
              </a:spcAft>
              <a:buNone/>
            </a:pPr>
            <a:r>
              <a:rPr lang="en" sz="900">
                <a:latin typeface="Montserrat"/>
                <a:ea typeface="Montserrat"/>
                <a:cs typeface="Montserrat"/>
                <a:sym typeface="Montserrat"/>
              </a:rPr>
              <a:t>X.402</a:t>
            </a:r>
            <a:endParaRPr sz="900">
              <a:latin typeface="Montserrat"/>
              <a:ea typeface="Montserrat"/>
              <a:cs typeface="Montserrat"/>
              <a:sym typeface="Montserrat"/>
            </a:endParaRPr>
          </a:p>
        </p:txBody>
      </p:sp>
      <p:sp>
        <p:nvSpPr>
          <p:cNvPr id="133" name="Google Shape;133;p31"/>
          <p:cNvSpPr/>
          <p:nvPr/>
        </p:nvSpPr>
        <p:spPr>
          <a:xfrm>
            <a:off x="3951009" y="2295628"/>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Knowledge Pricing</a:t>
            </a:r>
            <a:endParaRPr sz="900">
              <a:latin typeface="Montserrat"/>
              <a:ea typeface="Montserrat"/>
              <a:cs typeface="Montserrat"/>
              <a:sym typeface="Montserrat"/>
            </a:endParaRPr>
          </a:p>
        </p:txBody>
      </p:sp>
      <p:sp>
        <p:nvSpPr>
          <p:cNvPr id="134" name="Google Shape;134;p31"/>
          <p:cNvSpPr/>
          <p:nvPr/>
        </p:nvSpPr>
        <p:spPr>
          <a:xfrm>
            <a:off x="4957102" y="229632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Trust &amp; Reputation</a:t>
            </a:r>
            <a:endParaRPr sz="900">
              <a:latin typeface="Montserrat"/>
              <a:ea typeface="Montserrat"/>
              <a:cs typeface="Montserrat"/>
              <a:sym typeface="Montserrat"/>
            </a:endParaRPr>
          </a:p>
        </p:txBody>
      </p:sp>
      <p:sp>
        <p:nvSpPr>
          <p:cNvPr id="135" name="Google Shape;135;p31"/>
          <p:cNvSpPr/>
          <p:nvPr/>
        </p:nvSpPr>
        <p:spPr>
          <a:xfrm>
            <a:off x="3955493" y="338393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Transactions</a:t>
            </a:r>
            <a:endParaRPr sz="900">
              <a:latin typeface="Montserrat"/>
              <a:ea typeface="Montserrat"/>
              <a:cs typeface="Montserrat"/>
              <a:sym typeface="Montserrat"/>
            </a:endParaRPr>
          </a:p>
        </p:txBody>
      </p:sp>
      <p:sp>
        <p:nvSpPr>
          <p:cNvPr id="136" name="Google Shape;136;p31"/>
          <p:cNvSpPr/>
          <p:nvPr/>
        </p:nvSpPr>
        <p:spPr>
          <a:xfrm>
            <a:off x="6763388" y="2223613"/>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CoLearning</a:t>
            </a:r>
            <a:endParaRPr sz="900">
              <a:latin typeface="Montserrat"/>
              <a:ea typeface="Montserrat"/>
              <a:cs typeface="Montserrat"/>
              <a:sym typeface="Montserrat"/>
            </a:endParaRPr>
          </a:p>
        </p:txBody>
      </p:sp>
      <p:sp>
        <p:nvSpPr>
          <p:cNvPr id="137" name="Google Shape;137;p31"/>
          <p:cNvSpPr/>
          <p:nvPr/>
        </p:nvSpPr>
        <p:spPr>
          <a:xfrm>
            <a:off x="7323561" y="1264588"/>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Population Models</a:t>
            </a:r>
            <a:endParaRPr sz="900">
              <a:latin typeface="Montserrat"/>
              <a:ea typeface="Montserrat"/>
              <a:cs typeface="Montserrat"/>
              <a:sym typeface="Montserrat"/>
            </a:endParaRPr>
          </a:p>
        </p:txBody>
      </p:sp>
      <p:sp>
        <p:nvSpPr>
          <p:cNvPr id="138" name="Google Shape;138;p31"/>
          <p:cNvSpPr/>
          <p:nvPr/>
        </p:nvSpPr>
        <p:spPr>
          <a:xfrm>
            <a:off x="7832633" y="2223613"/>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Agent Marketplaces</a:t>
            </a:r>
            <a:endParaRPr sz="900">
              <a:latin typeface="Montserrat"/>
              <a:ea typeface="Montserrat"/>
              <a:cs typeface="Montserrat"/>
              <a:sym typeface="Montserrat"/>
            </a:endParaRPr>
          </a:p>
        </p:txBody>
      </p:sp>
      <p:sp>
        <p:nvSpPr>
          <p:cNvPr id="139" name="Google Shape;139;p31"/>
          <p:cNvSpPr txBox="1"/>
          <p:nvPr/>
        </p:nvSpPr>
        <p:spPr>
          <a:xfrm>
            <a:off x="1526492" y="4055473"/>
            <a:ext cx="834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Phase 1</a:t>
            </a:r>
            <a:endParaRPr sz="900">
              <a:latin typeface="Montserrat"/>
              <a:ea typeface="Montserrat"/>
              <a:cs typeface="Montserrat"/>
              <a:sym typeface="Montserrat"/>
            </a:endParaRPr>
          </a:p>
        </p:txBody>
      </p:sp>
      <p:sp>
        <p:nvSpPr>
          <p:cNvPr id="140" name="Google Shape;140;p31"/>
          <p:cNvSpPr txBox="1"/>
          <p:nvPr/>
        </p:nvSpPr>
        <p:spPr>
          <a:xfrm>
            <a:off x="4401097" y="4055473"/>
            <a:ext cx="834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Phase 2</a:t>
            </a:r>
            <a:endParaRPr sz="900">
              <a:latin typeface="Montserrat"/>
              <a:ea typeface="Montserrat"/>
              <a:cs typeface="Montserrat"/>
              <a:sym typeface="Montserrat"/>
            </a:endParaRPr>
          </a:p>
        </p:txBody>
      </p:sp>
      <p:sp>
        <p:nvSpPr>
          <p:cNvPr id="141" name="Google Shape;141;p31"/>
          <p:cNvSpPr txBox="1"/>
          <p:nvPr/>
        </p:nvSpPr>
        <p:spPr>
          <a:xfrm>
            <a:off x="7292627" y="4055473"/>
            <a:ext cx="834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Phase 3</a:t>
            </a:r>
            <a:endParaRPr sz="900">
              <a:latin typeface="Montserrat"/>
              <a:ea typeface="Montserrat"/>
              <a:cs typeface="Montserrat"/>
              <a:sym typeface="Montserrat"/>
            </a:endParaRPr>
          </a:p>
        </p:txBody>
      </p:sp>
      <p:cxnSp>
        <p:nvCxnSpPr>
          <p:cNvPr id="142" name="Google Shape;142;p31"/>
          <p:cNvCxnSpPr/>
          <p:nvPr/>
        </p:nvCxnSpPr>
        <p:spPr>
          <a:xfrm>
            <a:off x="376635" y="4095218"/>
            <a:ext cx="8765700" cy="0"/>
          </a:xfrm>
          <a:prstGeom prst="straightConnector1">
            <a:avLst/>
          </a:prstGeom>
          <a:noFill/>
          <a:ln cap="flat" cmpd="sng" w="9525">
            <a:solidFill>
              <a:srgbClr val="000000"/>
            </a:solidFill>
            <a:prstDash val="solid"/>
            <a:round/>
            <a:headEnd len="med" w="med" type="none"/>
            <a:tailEnd len="med" w="med" type="stealth"/>
          </a:ln>
        </p:spPr>
      </p:cxnSp>
      <p:cxnSp>
        <p:nvCxnSpPr>
          <p:cNvPr id="143" name="Google Shape;143;p31"/>
          <p:cNvCxnSpPr/>
          <p:nvPr/>
        </p:nvCxnSpPr>
        <p:spPr>
          <a:xfrm rot="10800000">
            <a:off x="375806" y="480818"/>
            <a:ext cx="0" cy="3614400"/>
          </a:xfrm>
          <a:prstGeom prst="straightConnector1">
            <a:avLst/>
          </a:prstGeom>
          <a:noFill/>
          <a:ln cap="flat" cmpd="sng" w="9525">
            <a:solidFill>
              <a:srgbClr val="000000"/>
            </a:solidFill>
            <a:prstDash val="solid"/>
            <a:round/>
            <a:headEnd len="med" w="med" type="none"/>
            <a:tailEnd len="med" w="med" type="stealth"/>
          </a:ln>
        </p:spPr>
      </p:cxnSp>
      <p:sp>
        <p:nvSpPr>
          <p:cNvPr id="144" name="Google Shape;144;p31"/>
          <p:cNvSpPr txBox="1"/>
          <p:nvPr/>
        </p:nvSpPr>
        <p:spPr>
          <a:xfrm rot="-5399414">
            <a:off x="-802778" y="2126475"/>
            <a:ext cx="176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latin typeface="Montserrat"/>
                <a:ea typeface="Montserrat"/>
                <a:cs typeface="Montserrat"/>
                <a:sym typeface="Montserrat"/>
              </a:rPr>
              <a:t>System Integration Level</a:t>
            </a:r>
            <a:endParaRPr b="1" sz="900">
              <a:latin typeface="Montserrat"/>
              <a:ea typeface="Montserrat"/>
              <a:cs typeface="Montserrat"/>
              <a:sym typeface="Montserrat"/>
            </a:endParaRPr>
          </a:p>
        </p:txBody>
      </p:sp>
      <p:sp>
        <p:nvSpPr>
          <p:cNvPr id="145" name="Google Shape;145;p31"/>
          <p:cNvSpPr txBox="1"/>
          <p:nvPr/>
        </p:nvSpPr>
        <p:spPr>
          <a:xfrm rot="595">
            <a:off x="3951384" y="4352244"/>
            <a:ext cx="1733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latin typeface="Montserrat"/>
                <a:ea typeface="Montserrat"/>
                <a:cs typeface="Montserrat"/>
                <a:sym typeface="Montserrat"/>
              </a:rPr>
              <a:t>Development Phases</a:t>
            </a:r>
            <a:endParaRPr b="1" sz="900">
              <a:latin typeface="Montserrat"/>
              <a:ea typeface="Montserrat"/>
              <a:cs typeface="Montserrat"/>
              <a:sym typeface="Montserrat"/>
            </a:endParaRPr>
          </a:p>
        </p:txBody>
      </p:sp>
      <p:sp>
        <p:nvSpPr>
          <p:cNvPr id="146" name="Google Shape;146;p31"/>
          <p:cNvSpPr txBox="1"/>
          <p:nvPr/>
        </p:nvSpPr>
        <p:spPr>
          <a:xfrm>
            <a:off x="381786" y="3448742"/>
            <a:ext cx="83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Montserrat"/>
                <a:ea typeface="Montserrat"/>
                <a:cs typeface="Montserrat"/>
                <a:sym typeface="Montserrat"/>
              </a:rPr>
              <a:t>Syntax</a:t>
            </a:r>
            <a:endParaRPr sz="800">
              <a:latin typeface="Montserrat"/>
              <a:ea typeface="Montserrat"/>
              <a:cs typeface="Montserrat"/>
              <a:sym typeface="Montserrat"/>
            </a:endParaRPr>
          </a:p>
        </p:txBody>
      </p:sp>
      <p:sp>
        <p:nvSpPr>
          <p:cNvPr id="147" name="Google Shape;147;p31"/>
          <p:cNvSpPr txBox="1"/>
          <p:nvPr/>
        </p:nvSpPr>
        <p:spPr>
          <a:xfrm>
            <a:off x="375795" y="2397881"/>
            <a:ext cx="944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Montserrat"/>
                <a:ea typeface="Montserrat"/>
                <a:cs typeface="Montserrat"/>
                <a:sym typeface="Montserrat"/>
              </a:rPr>
              <a:t>Systems and Control Plane</a:t>
            </a:r>
            <a:endParaRPr sz="800">
              <a:latin typeface="Montserrat"/>
              <a:ea typeface="Montserrat"/>
              <a:cs typeface="Montserrat"/>
              <a:sym typeface="Montserrat"/>
            </a:endParaRPr>
          </a:p>
        </p:txBody>
      </p:sp>
      <p:sp>
        <p:nvSpPr>
          <p:cNvPr id="148" name="Google Shape;148;p31"/>
          <p:cNvSpPr txBox="1"/>
          <p:nvPr/>
        </p:nvSpPr>
        <p:spPr>
          <a:xfrm>
            <a:off x="326720" y="1319191"/>
            <a:ext cx="944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Montserrat"/>
                <a:ea typeface="Montserrat"/>
                <a:cs typeface="Montserrat"/>
                <a:sym typeface="Montserrat"/>
              </a:rPr>
              <a:t>Collective and Global Plane</a:t>
            </a:r>
            <a:endParaRPr sz="800">
              <a:latin typeface="Montserrat"/>
              <a:ea typeface="Montserrat"/>
              <a:cs typeface="Montserrat"/>
              <a:sym typeface="Montserrat"/>
            </a:endParaRPr>
          </a:p>
        </p:txBody>
      </p:sp>
      <p:cxnSp>
        <p:nvCxnSpPr>
          <p:cNvPr id="149" name="Google Shape;149;p31"/>
          <p:cNvCxnSpPr>
            <a:stCxn id="127" idx="3"/>
            <a:endCxn id="128" idx="1"/>
          </p:cNvCxnSpPr>
          <p:nvPr/>
        </p:nvCxnSpPr>
        <p:spPr>
          <a:xfrm>
            <a:off x="2848300" y="665375"/>
            <a:ext cx="1290900" cy="600"/>
          </a:xfrm>
          <a:prstGeom prst="bentConnector3">
            <a:avLst>
              <a:gd fmla="val 50000" name="adj1"/>
            </a:avLst>
          </a:prstGeom>
          <a:noFill/>
          <a:ln cap="flat" cmpd="sng" w="19050">
            <a:solidFill>
              <a:srgbClr val="6D9EEB"/>
            </a:solidFill>
            <a:prstDash val="solid"/>
            <a:round/>
            <a:headEnd len="med" w="med" type="none"/>
            <a:tailEnd len="med" w="med" type="stealth"/>
          </a:ln>
        </p:spPr>
      </p:cxnSp>
      <p:cxnSp>
        <p:nvCxnSpPr>
          <p:cNvPr id="150" name="Google Shape;150;p31"/>
          <p:cNvCxnSpPr>
            <a:stCxn id="128" idx="3"/>
            <a:endCxn id="129" idx="1"/>
          </p:cNvCxnSpPr>
          <p:nvPr/>
        </p:nvCxnSpPr>
        <p:spPr>
          <a:xfrm>
            <a:off x="5872902" y="665375"/>
            <a:ext cx="890400" cy="600"/>
          </a:xfrm>
          <a:prstGeom prst="bentConnector3">
            <a:avLst>
              <a:gd fmla="val 50005" name="adj1"/>
            </a:avLst>
          </a:prstGeom>
          <a:noFill/>
          <a:ln cap="flat" cmpd="sng" w="19050">
            <a:solidFill>
              <a:srgbClr val="6D9EEB"/>
            </a:solidFill>
            <a:prstDash val="solid"/>
            <a:round/>
            <a:headEnd len="med" w="med" type="none"/>
            <a:tailEnd len="med" w="med" type="stealth"/>
          </a:ln>
        </p:spPr>
      </p:cxnSp>
      <p:sp>
        <p:nvSpPr>
          <p:cNvPr id="151" name="Google Shape;151;p31"/>
          <p:cNvSpPr/>
          <p:nvPr/>
        </p:nvSpPr>
        <p:spPr>
          <a:xfrm>
            <a:off x="7323538" y="333249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Ripple Effect Protocol (REP)</a:t>
            </a:r>
            <a:endParaRPr sz="900">
              <a:latin typeface="Montserrat"/>
              <a:ea typeface="Montserrat"/>
              <a:cs typeface="Montserrat"/>
              <a:sym typeface="Montserrat"/>
            </a:endParaRPr>
          </a:p>
        </p:txBody>
      </p:sp>
      <p:sp>
        <p:nvSpPr>
          <p:cNvPr id="152" name="Google Shape;152;p31"/>
          <p:cNvSpPr/>
          <p:nvPr/>
        </p:nvSpPr>
        <p:spPr>
          <a:xfrm>
            <a:off x="2492282" y="227873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Identity, Auth</a:t>
            </a:r>
            <a:endParaRPr sz="900">
              <a:latin typeface="Montserrat"/>
              <a:ea typeface="Montserrat"/>
              <a:cs typeface="Montserrat"/>
              <a:sym typeface="Montserrat"/>
            </a:endParaRPr>
          </a:p>
        </p:txBody>
      </p:sp>
      <p:sp>
        <p:nvSpPr>
          <p:cNvPr id="153" name="Google Shape;153;p31"/>
          <p:cNvSpPr/>
          <p:nvPr/>
        </p:nvSpPr>
        <p:spPr>
          <a:xfrm>
            <a:off x="1714692" y="1232287"/>
            <a:ext cx="9444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Security</a:t>
            </a:r>
            <a:endParaRPr sz="900">
              <a:latin typeface="Montserrat"/>
              <a:ea typeface="Montserrat"/>
              <a:cs typeface="Montserrat"/>
              <a:sym typeface="Montserrat"/>
            </a:endParaRPr>
          </a:p>
        </p:txBody>
      </p:sp>
      <p:sp>
        <p:nvSpPr>
          <p:cNvPr id="154" name="Google Shape;154;p31"/>
          <p:cNvSpPr/>
          <p:nvPr/>
        </p:nvSpPr>
        <p:spPr>
          <a:xfrm>
            <a:off x="4376225" y="1232290"/>
            <a:ext cx="1230300" cy="540300"/>
          </a:xfrm>
          <a:prstGeom prst="rect">
            <a:avLst/>
          </a:prstGeom>
          <a:solidFill>
            <a:srgbClr val="C9DAF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Montserrat"/>
                <a:ea typeface="Montserrat"/>
                <a:cs typeface="Montserrat"/>
                <a:sym typeface="Montserrat"/>
              </a:rPr>
              <a:t>Market Dynamics, Groupon, Polymarkets</a:t>
            </a:r>
            <a:endParaRPr sz="9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2"/>
          <p:cNvSpPr txBox="1"/>
          <p:nvPr>
            <p:ph type="title"/>
          </p:nvPr>
        </p:nvSpPr>
        <p:spPr>
          <a:xfrm>
            <a:off x="106250" y="253750"/>
            <a:ext cx="8621100" cy="696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Agents are Different from Webpages</a:t>
            </a:r>
            <a:endParaRPr/>
          </a:p>
        </p:txBody>
      </p:sp>
      <p:pic>
        <p:nvPicPr>
          <p:cNvPr descr="preencoded.png" id="160" name="Google Shape;160;p32"/>
          <p:cNvPicPr preferRelativeResize="0"/>
          <p:nvPr/>
        </p:nvPicPr>
        <p:blipFill rotWithShape="1">
          <a:blip r:embed="rId3">
            <a:alphaModFix/>
          </a:blip>
          <a:srcRect b="0" l="0" r="0" t="0"/>
          <a:stretch/>
        </p:blipFill>
        <p:spPr>
          <a:xfrm>
            <a:off x="416570" y="880616"/>
            <a:ext cx="297507" cy="297507"/>
          </a:xfrm>
          <a:prstGeom prst="rect">
            <a:avLst/>
          </a:prstGeom>
          <a:noFill/>
          <a:ln>
            <a:noFill/>
          </a:ln>
        </p:spPr>
      </p:pic>
      <p:sp>
        <p:nvSpPr>
          <p:cNvPr id="161" name="Google Shape;161;p32"/>
          <p:cNvSpPr/>
          <p:nvPr/>
        </p:nvSpPr>
        <p:spPr>
          <a:xfrm>
            <a:off x="416570" y="1297111"/>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Dynamic</a:t>
            </a:r>
            <a:endParaRPr sz="1200">
              <a:solidFill>
                <a:schemeClr val="dk1"/>
              </a:solidFill>
              <a:latin typeface="Calibri"/>
              <a:ea typeface="Calibri"/>
              <a:cs typeface="Calibri"/>
              <a:sym typeface="Calibri"/>
            </a:endParaRPr>
          </a:p>
        </p:txBody>
      </p:sp>
      <p:sp>
        <p:nvSpPr>
          <p:cNvPr id="162" name="Google Shape;162;p32"/>
          <p:cNvSpPr/>
          <p:nvPr/>
        </p:nvSpPr>
        <p:spPr>
          <a:xfrm>
            <a:off x="416570" y="1564258"/>
            <a:ext cx="2671200" cy="3807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Agents actively respond and adapt, unlike static webpages for information.</a:t>
            </a:r>
            <a:endParaRPr sz="900">
              <a:solidFill>
                <a:schemeClr val="dk1"/>
              </a:solidFill>
              <a:latin typeface="Calibri"/>
              <a:ea typeface="Calibri"/>
              <a:cs typeface="Calibri"/>
              <a:sym typeface="Calibri"/>
            </a:endParaRPr>
          </a:p>
        </p:txBody>
      </p:sp>
      <p:pic>
        <p:nvPicPr>
          <p:cNvPr descr="preencoded.png" id="163" name="Google Shape;163;p32"/>
          <p:cNvPicPr preferRelativeResize="0"/>
          <p:nvPr/>
        </p:nvPicPr>
        <p:blipFill rotWithShape="1">
          <a:blip r:embed="rId4">
            <a:alphaModFix/>
          </a:blip>
          <a:srcRect b="0" l="0" r="0" t="0"/>
          <a:stretch/>
        </p:blipFill>
        <p:spPr>
          <a:xfrm>
            <a:off x="3236416" y="880616"/>
            <a:ext cx="297507" cy="297507"/>
          </a:xfrm>
          <a:prstGeom prst="rect">
            <a:avLst/>
          </a:prstGeom>
          <a:noFill/>
          <a:ln>
            <a:noFill/>
          </a:ln>
        </p:spPr>
      </p:pic>
      <p:sp>
        <p:nvSpPr>
          <p:cNvPr id="164" name="Google Shape;164;p32"/>
          <p:cNvSpPr/>
          <p:nvPr/>
        </p:nvSpPr>
        <p:spPr>
          <a:xfrm>
            <a:off x="3236416" y="1297111"/>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Edge AI/ Tiny ML</a:t>
            </a:r>
            <a:endParaRPr sz="1200">
              <a:solidFill>
                <a:schemeClr val="dk1"/>
              </a:solidFill>
              <a:latin typeface="Calibri"/>
              <a:ea typeface="Calibri"/>
              <a:cs typeface="Calibri"/>
              <a:sym typeface="Calibri"/>
            </a:endParaRPr>
          </a:p>
        </p:txBody>
      </p:sp>
      <p:sp>
        <p:nvSpPr>
          <p:cNvPr id="165" name="Google Shape;165;p32"/>
          <p:cNvSpPr/>
          <p:nvPr/>
        </p:nvSpPr>
        <p:spPr>
          <a:xfrm>
            <a:off x="3236416" y="1564258"/>
            <a:ext cx="2671200" cy="3807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Agents operate where needed—at network edges—not just from centralized servers.</a:t>
            </a:r>
            <a:endParaRPr sz="900">
              <a:solidFill>
                <a:schemeClr val="dk1"/>
              </a:solidFill>
              <a:latin typeface="Calibri"/>
              <a:ea typeface="Calibri"/>
              <a:cs typeface="Calibri"/>
              <a:sym typeface="Calibri"/>
            </a:endParaRPr>
          </a:p>
        </p:txBody>
      </p:sp>
      <p:pic>
        <p:nvPicPr>
          <p:cNvPr descr="preencoded.png" id="166" name="Google Shape;166;p32"/>
          <p:cNvPicPr preferRelativeResize="0"/>
          <p:nvPr/>
        </p:nvPicPr>
        <p:blipFill rotWithShape="1">
          <a:blip r:embed="rId5">
            <a:alphaModFix/>
          </a:blip>
          <a:srcRect b="0" l="0" r="0" t="0"/>
          <a:stretch/>
        </p:blipFill>
        <p:spPr>
          <a:xfrm>
            <a:off x="6056263" y="880616"/>
            <a:ext cx="297507" cy="297507"/>
          </a:xfrm>
          <a:prstGeom prst="rect">
            <a:avLst/>
          </a:prstGeom>
          <a:noFill/>
          <a:ln>
            <a:noFill/>
          </a:ln>
        </p:spPr>
      </p:pic>
      <p:sp>
        <p:nvSpPr>
          <p:cNvPr id="167" name="Google Shape;167;p32"/>
          <p:cNvSpPr/>
          <p:nvPr/>
        </p:nvSpPr>
        <p:spPr>
          <a:xfrm>
            <a:off x="6056263" y="1297111"/>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Location Mobility</a:t>
            </a:r>
            <a:endParaRPr sz="1200">
              <a:solidFill>
                <a:schemeClr val="dk1"/>
              </a:solidFill>
              <a:latin typeface="Calibri"/>
              <a:ea typeface="Calibri"/>
              <a:cs typeface="Calibri"/>
              <a:sym typeface="Calibri"/>
            </a:endParaRPr>
          </a:p>
        </p:txBody>
      </p:sp>
      <p:sp>
        <p:nvSpPr>
          <p:cNvPr id="168" name="Google Shape;168;p32"/>
          <p:cNvSpPr/>
          <p:nvPr/>
        </p:nvSpPr>
        <p:spPr>
          <a:xfrm>
            <a:off x="6056263" y="1564258"/>
            <a:ext cx="2671200" cy="3807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Agents relocate based on demand, while webpages remain fixed at specific URLs.</a:t>
            </a:r>
            <a:endParaRPr sz="900">
              <a:solidFill>
                <a:schemeClr val="dk1"/>
              </a:solidFill>
              <a:latin typeface="Calibri"/>
              <a:ea typeface="Calibri"/>
              <a:cs typeface="Calibri"/>
              <a:sym typeface="Calibri"/>
            </a:endParaRPr>
          </a:p>
        </p:txBody>
      </p:sp>
      <p:pic>
        <p:nvPicPr>
          <p:cNvPr descr="preencoded.png" id="169" name="Google Shape;169;p32"/>
          <p:cNvPicPr preferRelativeResize="0"/>
          <p:nvPr/>
        </p:nvPicPr>
        <p:blipFill rotWithShape="1">
          <a:blip r:embed="rId6">
            <a:alphaModFix/>
          </a:blip>
          <a:srcRect b="0" l="0" r="0" t="0"/>
          <a:stretch/>
        </p:blipFill>
        <p:spPr>
          <a:xfrm>
            <a:off x="416570" y="2182936"/>
            <a:ext cx="297507" cy="297507"/>
          </a:xfrm>
          <a:prstGeom prst="rect">
            <a:avLst/>
          </a:prstGeom>
          <a:noFill/>
          <a:ln>
            <a:noFill/>
          </a:ln>
        </p:spPr>
      </p:pic>
      <p:sp>
        <p:nvSpPr>
          <p:cNvPr id="170" name="Google Shape;170;p32"/>
          <p:cNvSpPr/>
          <p:nvPr/>
        </p:nvSpPr>
        <p:spPr>
          <a:xfrm>
            <a:off x="416570" y="2599432"/>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Consumer-Driven</a:t>
            </a:r>
            <a:endParaRPr sz="1200">
              <a:solidFill>
                <a:schemeClr val="dk1"/>
              </a:solidFill>
              <a:latin typeface="Calibri"/>
              <a:ea typeface="Calibri"/>
              <a:cs typeface="Calibri"/>
              <a:sym typeface="Calibri"/>
            </a:endParaRPr>
          </a:p>
        </p:txBody>
      </p:sp>
      <p:sp>
        <p:nvSpPr>
          <p:cNvPr id="171" name="Google Shape;171;p32"/>
          <p:cNvSpPr/>
          <p:nvPr/>
        </p:nvSpPr>
        <p:spPr>
          <a:xfrm>
            <a:off x="416570" y="2866579"/>
            <a:ext cx="2671200" cy="1905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Not just trusted enterprise agents</a:t>
            </a:r>
            <a:endParaRPr sz="900">
              <a:solidFill>
                <a:schemeClr val="dk1"/>
              </a:solidFill>
              <a:latin typeface="Calibri"/>
              <a:ea typeface="Calibri"/>
              <a:cs typeface="Calibri"/>
              <a:sym typeface="Calibri"/>
            </a:endParaRPr>
          </a:p>
        </p:txBody>
      </p:sp>
      <p:pic>
        <p:nvPicPr>
          <p:cNvPr descr="preencoded.png" id="172" name="Google Shape;172;p32"/>
          <p:cNvPicPr preferRelativeResize="0"/>
          <p:nvPr/>
        </p:nvPicPr>
        <p:blipFill rotWithShape="1">
          <a:blip r:embed="rId7">
            <a:alphaModFix/>
          </a:blip>
          <a:srcRect b="0" l="0" r="0" t="0"/>
          <a:stretch/>
        </p:blipFill>
        <p:spPr>
          <a:xfrm>
            <a:off x="3236416" y="2182936"/>
            <a:ext cx="297507" cy="297507"/>
          </a:xfrm>
          <a:prstGeom prst="rect">
            <a:avLst/>
          </a:prstGeom>
          <a:noFill/>
          <a:ln>
            <a:noFill/>
          </a:ln>
        </p:spPr>
      </p:pic>
      <p:sp>
        <p:nvSpPr>
          <p:cNvPr id="173" name="Google Shape;173;p32"/>
          <p:cNvSpPr/>
          <p:nvPr/>
        </p:nvSpPr>
        <p:spPr>
          <a:xfrm>
            <a:off x="3236416" y="2599432"/>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Heterogeneous</a:t>
            </a:r>
            <a:endParaRPr sz="1200">
              <a:solidFill>
                <a:schemeClr val="dk1"/>
              </a:solidFill>
              <a:latin typeface="Calibri"/>
              <a:ea typeface="Calibri"/>
              <a:cs typeface="Calibri"/>
              <a:sym typeface="Calibri"/>
            </a:endParaRPr>
          </a:p>
        </p:txBody>
      </p:sp>
      <p:sp>
        <p:nvSpPr>
          <p:cNvPr id="174" name="Google Shape;174;p32"/>
          <p:cNvSpPr/>
          <p:nvPr/>
        </p:nvSpPr>
        <p:spPr>
          <a:xfrm>
            <a:off x="3236416" y="2866579"/>
            <a:ext cx="2671200" cy="3807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Intelligence, Platforms, TTL Agents vary widely.</a:t>
            </a:r>
            <a:endParaRPr sz="900">
              <a:solidFill>
                <a:schemeClr val="dk1"/>
              </a:solidFill>
              <a:latin typeface="Calibri"/>
              <a:ea typeface="Calibri"/>
              <a:cs typeface="Calibri"/>
              <a:sym typeface="Calibri"/>
            </a:endParaRPr>
          </a:p>
        </p:txBody>
      </p:sp>
      <p:pic>
        <p:nvPicPr>
          <p:cNvPr descr="preencoded.png" id="175" name="Google Shape;175;p32"/>
          <p:cNvPicPr preferRelativeResize="0"/>
          <p:nvPr/>
        </p:nvPicPr>
        <p:blipFill rotWithShape="1">
          <a:blip r:embed="rId8">
            <a:alphaModFix/>
          </a:blip>
          <a:srcRect b="0" l="0" r="0" t="0"/>
          <a:stretch/>
        </p:blipFill>
        <p:spPr>
          <a:xfrm>
            <a:off x="6056263" y="2182936"/>
            <a:ext cx="297507" cy="297507"/>
          </a:xfrm>
          <a:prstGeom prst="rect">
            <a:avLst/>
          </a:prstGeom>
          <a:noFill/>
          <a:ln>
            <a:noFill/>
          </a:ln>
        </p:spPr>
      </p:pic>
      <p:sp>
        <p:nvSpPr>
          <p:cNvPr id="176" name="Google Shape;176;p32"/>
          <p:cNvSpPr/>
          <p:nvPr/>
        </p:nvSpPr>
        <p:spPr>
          <a:xfrm>
            <a:off x="6056263" y="2599432"/>
            <a:ext cx="20094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Bidirectional Communication</a:t>
            </a:r>
            <a:endParaRPr sz="1200">
              <a:solidFill>
                <a:schemeClr val="dk1"/>
              </a:solidFill>
              <a:latin typeface="Calibri"/>
              <a:ea typeface="Calibri"/>
              <a:cs typeface="Calibri"/>
              <a:sym typeface="Calibri"/>
            </a:endParaRPr>
          </a:p>
        </p:txBody>
      </p:sp>
      <p:sp>
        <p:nvSpPr>
          <p:cNvPr id="177" name="Google Shape;177;p32"/>
          <p:cNvSpPr/>
          <p:nvPr/>
        </p:nvSpPr>
        <p:spPr>
          <a:xfrm>
            <a:off x="6056263" y="2866579"/>
            <a:ext cx="2671200" cy="1905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Webpages' primarily outbound</a:t>
            </a:r>
            <a:endParaRPr sz="900">
              <a:solidFill>
                <a:schemeClr val="dk1"/>
              </a:solidFill>
              <a:latin typeface="Calibri"/>
              <a:ea typeface="Calibri"/>
              <a:cs typeface="Calibri"/>
              <a:sym typeface="Calibri"/>
            </a:endParaRPr>
          </a:p>
        </p:txBody>
      </p:sp>
      <p:pic>
        <p:nvPicPr>
          <p:cNvPr descr="preencoded.png" id="178" name="Google Shape;178;p32"/>
          <p:cNvPicPr preferRelativeResize="0"/>
          <p:nvPr/>
        </p:nvPicPr>
        <p:blipFill rotWithShape="1">
          <a:blip r:embed="rId9">
            <a:alphaModFix/>
          </a:blip>
          <a:srcRect b="0" l="0" r="0" t="0"/>
          <a:stretch/>
        </p:blipFill>
        <p:spPr>
          <a:xfrm>
            <a:off x="416570" y="3485257"/>
            <a:ext cx="297507" cy="297507"/>
          </a:xfrm>
          <a:prstGeom prst="rect">
            <a:avLst/>
          </a:prstGeom>
          <a:noFill/>
          <a:ln>
            <a:noFill/>
          </a:ln>
        </p:spPr>
      </p:pic>
      <p:sp>
        <p:nvSpPr>
          <p:cNvPr id="179" name="Google Shape;179;p32"/>
          <p:cNvSpPr/>
          <p:nvPr/>
        </p:nvSpPr>
        <p:spPr>
          <a:xfrm>
            <a:off x="416570" y="3901753"/>
            <a:ext cx="1566000" cy="1959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Teaming</a:t>
            </a:r>
            <a:endParaRPr sz="1200">
              <a:solidFill>
                <a:schemeClr val="dk1"/>
              </a:solidFill>
              <a:latin typeface="Calibri"/>
              <a:ea typeface="Calibri"/>
              <a:cs typeface="Calibri"/>
              <a:sym typeface="Calibri"/>
            </a:endParaRPr>
          </a:p>
        </p:txBody>
      </p:sp>
      <p:sp>
        <p:nvSpPr>
          <p:cNvPr id="180" name="Google Shape;180;p32"/>
          <p:cNvSpPr/>
          <p:nvPr/>
        </p:nvSpPr>
        <p:spPr>
          <a:xfrm>
            <a:off x="416570" y="4168899"/>
            <a:ext cx="2671200" cy="57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Agents collaborate with other agents to solve complex tasks that isolated webpages cannot.</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106250" y="253750"/>
            <a:ext cx="7107300" cy="696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The Coming Scale Shock</a:t>
            </a:r>
            <a:endParaRPr/>
          </a:p>
        </p:txBody>
      </p:sp>
      <p:sp>
        <p:nvSpPr>
          <p:cNvPr id="186" name="Google Shape;186;p33"/>
          <p:cNvSpPr/>
          <p:nvPr/>
        </p:nvSpPr>
        <p:spPr>
          <a:xfrm>
            <a:off x="413077" y="1433806"/>
            <a:ext cx="29448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i="0" lang="en" sz="3100" u="none" cap="none" strike="noStrike">
                <a:solidFill>
                  <a:srgbClr val="272525"/>
                </a:solidFill>
                <a:latin typeface="Barlow"/>
                <a:ea typeface="Barlow"/>
                <a:cs typeface="Barlow"/>
                <a:sym typeface="Barlow"/>
              </a:rPr>
              <a:t>1.</a:t>
            </a:r>
            <a:r>
              <a:rPr b="1" lang="en" sz="3100">
                <a:solidFill>
                  <a:srgbClr val="272525"/>
                </a:solidFill>
                <a:latin typeface="Barlow"/>
                <a:ea typeface="Barlow"/>
                <a:cs typeface="Barlow"/>
                <a:sym typeface="Barlow"/>
              </a:rPr>
              <a:t>22 </a:t>
            </a:r>
            <a:r>
              <a:rPr b="1" i="0" lang="en" sz="3100" u="none" cap="none" strike="noStrike">
                <a:solidFill>
                  <a:srgbClr val="272525"/>
                </a:solidFill>
                <a:latin typeface="Barlow"/>
                <a:ea typeface="Barlow"/>
                <a:cs typeface="Barlow"/>
                <a:sym typeface="Barlow"/>
              </a:rPr>
              <a:t>B</a:t>
            </a:r>
            <a:endParaRPr b="0" i="0" sz="3100" u="none" cap="none" strike="noStrike"/>
          </a:p>
        </p:txBody>
      </p:sp>
      <p:sp>
        <p:nvSpPr>
          <p:cNvPr id="187" name="Google Shape;187;p33"/>
          <p:cNvSpPr/>
          <p:nvPr/>
        </p:nvSpPr>
        <p:spPr>
          <a:xfrm>
            <a:off x="1323602" y="1970783"/>
            <a:ext cx="11235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i="0" lang="en" sz="1200" u="none" cap="none" strike="noStrike">
                <a:solidFill>
                  <a:srgbClr val="272525"/>
                </a:solidFill>
                <a:latin typeface="Barlow"/>
                <a:ea typeface="Barlow"/>
                <a:cs typeface="Barlow"/>
                <a:sym typeface="Barlow"/>
              </a:rPr>
              <a:t>Websites</a:t>
            </a:r>
            <a:endParaRPr b="0" i="0" sz="1200" u="none" cap="none" strike="noStrike"/>
          </a:p>
        </p:txBody>
      </p:sp>
      <p:sp>
        <p:nvSpPr>
          <p:cNvPr id="188" name="Google Shape;188;p33"/>
          <p:cNvSpPr/>
          <p:nvPr/>
        </p:nvSpPr>
        <p:spPr>
          <a:xfrm>
            <a:off x="413077" y="2235625"/>
            <a:ext cx="29448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b="0" i="0" lang="en" sz="900" u="none" cap="none" strike="noStrike">
                <a:solidFill>
                  <a:srgbClr val="272525"/>
                </a:solidFill>
                <a:latin typeface="Montserrat"/>
                <a:ea typeface="Montserrat"/>
                <a:cs typeface="Montserrat"/>
                <a:sym typeface="Montserrat"/>
              </a:rPr>
              <a:t>Only 17% actively maintained</a:t>
            </a:r>
            <a:endParaRPr b="0" i="0" sz="900" u="none" cap="none" strike="noStrike"/>
          </a:p>
        </p:txBody>
      </p:sp>
      <p:sp>
        <p:nvSpPr>
          <p:cNvPr id="189" name="Google Shape;189;p33"/>
          <p:cNvSpPr/>
          <p:nvPr/>
        </p:nvSpPr>
        <p:spPr>
          <a:xfrm>
            <a:off x="3224812" y="1397228"/>
            <a:ext cx="26943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i="0" lang="en" sz="3100" u="none" cap="none" strike="noStrike">
                <a:solidFill>
                  <a:srgbClr val="272525"/>
                </a:solidFill>
                <a:latin typeface="Barlow"/>
                <a:ea typeface="Barlow"/>
                <a:cs typeface="Barlow"/>
                <a:sym typeface="Barlow"/>
              </a:rPr>
              <a:t>5.56 B</a:t>
            </a:r>
            <a:endParaRPr b="0" i="0" sz="3100" u="none" cap="none" strike="noStrike"/>
          </a:p>
        </p:txBody>
      </p:sp>
      <p:sp>
        <p:nvSpPr>
          <p:cNvPr id="190" name="Google Shape;190;p33"/>
          <p:cNvSpPr/>
          <p:nvPr/>
        </p:nvSpPr>
        <p:spPr>
          <a:xfrm>
            <a:off x="4057940" y="1934201"/>
            <a:ext cx="10281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i="0" lang="en" sz="1200" u="none" cap="none" strike="noStrike">
                <a:solidFill>
                  <a:srgbClr val="272525"/>
                </a:solidFill>
                <a:latin typeface="Barlow"/>
                <a:ea typeface="Barlow"/>
                <a:cs typeface="Barlow"/>
                <a:sym typeface="Barlow"/>
              </a:rPr>
              <a:t>Internet Users</a:t>
            </a:r>
            <a:endParaRPr b="0" i="0" sz="1200" u="none" cap="none" strike="noStrike"/>
          </a:p>
        </p:txBody>
      </p:sp>
      <p:sp>
        <p:nvSpPr>
          <p:cNvPr id="191" name="Google Shape;191;p33"/>
          <p:cNvSpPr/>
          <p:nvPr/>
        </p:nvSpPr>
        <p:spPr>
          <a:xfrm>
            <a:off x="3224812" y="2199042"/>
            <a:ext cx="26943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b="0" i="0" lang="en" sz="900" u="none" cap="none" strike="noStrike">
                <a:solidFill>
                  <a:srgbClr val="272525"/>
                </a:solidFill>
                <a:latin typeface="Montserrat"/>
                <a:ea typeface="Montserrat"/>
                <a:cs typeface="Montserrat"/>
                <a:sym typeface="Montserrat"/>
              </a:rPr>
              <a:t>Worldwide as of 2025</a:t>
            </a:r>
            <a:endParaRPr b="0" i="0" sz="900" u="none" cap="none" strike="noStrike"/>
          </a:p>
        </p:txBody>
      </p:sp>
      <p:sp>
        <p:nvSpPr>
          <p:cNvPr id="192" name="Google Shape;192;p33"/>
          <p:cNvSpPr/>
          <p:nvPr/>
        </p:nvSpPr>
        <p:spPr>
          <a:xfrm>
            <a:off x="5786233" y="1397228"/>
            <a:ext cx="29448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i="0" lang="en" sz="3100" u="none" cap="none" strike="noStrike">
                <a:solidFill>
                  <a:srgbClr val="272525"/>
                </a:solidFill>
                <a:latin typeface="Barlow"/>
                <a:ea typeface="Barlow"/>
                <a:cs typeface="Barlow"/>
                <a:sym typeface="Barlow"/>
              </a:rPr>
              <a:t>7.21 B</a:t>
            </a:r>
            <a:endParaRPr b="0" i="0" sz="3100" u="none" cap="none" strike="noStrike"/>
          </a:p>
        </p:txBody>
      </p:sp>
      <p:sp>
        <p:nvSpPr>
          <p:cNvPr id="193" name="Google Shape;193;p33"/>
          <p:cNvSpPr/>
          <p:nvPr/>
        </p:nvSpPr>
        <p:spPr>
          <a:xfrm>
            <a:off x="6696774" y="1934200"/>
            <a:ext cx="11235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i="0" lang="en" sz="1200" u="none" cap="none" strike="noStrike">
                <a:solidFill>
                  <a:srgbClr val="272525"/>
                </a:solidFill>
                <a:latin typeface="Barlow"/>
                <a:ea typeface="Barlow"/>
                <a:cs typeface="Barlow"/>
                <a:sym typeface="Barlow"/>
              </a:rPr>
              <a:t>Smartphones</a:t>
            </a:r>
            <a:endParaRPr b="0" i="0" sz="1200" u="none" cap="none" strike="noStrike"/>
          </a:p>
        </p:txBody>
      </p:sp>
      <p:sp>
        <p:nvSpPr>
          <p:cNvPr id="194" name="Google Shape;194;p33"/>
          <p:cNvSpPr/>
          <p:nvPr/>
        </p:nvSpPr>
        <p:spPr>
          <a:xfrm>
            <a:off x="5786233" y="2199041"/>
            <a:ext cx="29448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b="0" i="0" lang="en" sz="900" u="none" cap="none" strike="noStrike">
                <a:solidFill>
                  <a:srgbClr val="272525"/>
                </a:solidFill>
                <a:latin typeface="Montserrat"/>
                <a:ea typeface="Montserrat"/>
                <a:cs typeface="Montserrat"/>
                <a:sym typeface="Montserrat"/>
              </a:rPr>
              <a:t>In use globally</a:t>
            </a:r>
            <a:endParaRPr b="0" i="0" sz="900" u="none" cap="none" strike="noStrike"/>
          </a:p>
        </p:txBody>
      </p:sp>
      <p:sp>
        <p:nvSpPr>
          <p:cNvPr id="195" name="Google Shape;195;p33"/>
          <p:cNvSpPr/>
          <p:nvPr/>
        </p:nvSpPr>
        <p:spPr>
          <a:xfrm>
            <a:off x="5919189" y="2837478"/>
            <a:ext cx="28119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lang="en" sz="3100">
                <a:solidFill>
                  <a:srgbClr val="272525"/>
                </a:solidFill>
                <a:latin typeface="Barlow"/>
                <a:ea typeface="Barlow"/>
                <a:cs typeface="Barlow"/>
                <a:sym typeface="Barlow"/>
              </a:rPr>
              <a:t>Trillions </a:t>
            </a:r>
            <a:endParaRPr b="0" i="0" sz="3100" u="none" cap="none" strike="noStrike"/>
          </a:p>
        </p:txBody>
      </p:sp>
      <p:sp>
        <p:nvSpPr>
          <p:cNvPr id="196" name="Google Shape;196;p33"/>
          <p:cNvSpPr/>
          <p:nvPr/>
        </p:nvSpPr>
        <p:spPr>
          <a:xfrm>
            <a:off x="6608248" y="3410353"/>
            <a:ext cx="14337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i="0" lang="en" sz="1200" u="none" cap="none" strike="noStrike">
                <a:solidFill>
                  <a:srgbClr val="272525"/>
                </a:solidFill>
                <a:latin typeface="Barlow"/>
                <a:ea typeface="Barlow"/>
                <a:cs typeface="Barlow"/>
                <a:sym typeface="Barlow"/>
              </a:rPr>
              <a:t>Future AI Agents</a:t>
            </a:r>
            <a:endParaRPr b="0" i="0" sz="1200" u="none" cap="none" strike="noStrike"/>
          </a:p>
        </p:txBody>
      </p:sp>
      <p:sp>
        <p:nvSpPr>
          <p:cNvPr id="197" name="Google Shape;197;p33"/>
          <p:cNvSpPr/>
          <p:nvPr/>
        </p:nvSpPr>
        <p:spPr>
          <a:xfrm>
            <a:off x="5919189" y="3639297"/>
            <a:ext cx="28119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b="0" i="0" lang="en" sz="900" u="none" cap="none" strike="noStrike">
                <a:solidFill>
                  <a:srgbClr val="272525"/>
                </a:solidFill>
                <a:latin typeface="Montserrat"/>
                <a:ea typeface="Montserrat"/>
                <a:cs typeface="Montserrat"/>
                <a:sym typeface="Montserrat"/>
              </a:rPr>
              <a:t>Potential scale of autonomous agents</a:t>
            </a:r>
            <a:endParaRPr b="0" i="0" sz="900" u="none" cap="none" strike="noStrike"/>
          </a:p>
        </p:txBody>
      </p:sp>
      <p:sp>
        <p:nvSpPr>
          <p:cNvPr id="198" name="Google Shape;198;p33"/>
          <p:cNvSpPr/>
          <p:nvPr/>
        </p:nvSpPr>
        <p:spPr>
          <a:xfrm>
            <a:off x="413077" y="2873384"/>
            <a:ext cx="29448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lang="en" sz="3100">
                <a:solidFill>
                  <a:srgbClr val="272525"/>
                </a:solidFill>
                <a:latin typeface="Barlow"/>
                <a:ea typeface="Barlow"/>
                <a:cs typeface="Barlow"/>
                <a:sym typeface="Barlow"/>
              </a:rPr>
              <a:t>368 M</a:t>
            </a:r>
            <a:endParaRPr b="0" i="0" sz="3100" u="none" cap="none" strike="noStrike"/>
          </a:p>
        </p:txBody>
      </p:sp>
      <p:sp>
        <p:nvSpPr>
          <p:cNvPr id="199" name="Google Shape;199;p33"/>
          <p:cNvSpPr/>
          <p:nvPr/>
        </p:nvSpPr>
        <p:spPr>
          <a:xfrm>
            <a:off x="1323617" y="3410357"/>
            <a:ext cx="11235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Domain names</a:t>
            </a:r>
            <a:endParaRPr b="0" i="0" sz="1200" u="none" cap="none" strike="noStrike"/>
          </a:p>
        </p:txBody>
      </p:sp>
      <p:sp>
        <p:nvSpPr>
          <p:cNvPr id="200" name="Google Shape;200;p33"/>
          <p:cNvSpPr/>
          <p:nvPr/>
        </p:nvSpPr>
        <p:spPr>
          <a:xfrm>
            <a:off x="413077" y="3675197"/>
            <a:ext cx="29448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across TLDs</a:t>
            </a:r>
            <a:endParaRPr b="0" i="0" sz="900" u="none" cap="none" strike="noStrike"/>
          </a:p>
        </p:txBody>
      </p:sp>
      <p:sp>
        <p:nvSpPr>
          <p:cNvPr id="201" name="Google Shape;201;p33"/>
          <p:cNvSpPr/>
          <p:nvPr/>
        </p:nvSpPr>
        <p:spPr>
          <a:xfrm>
            <a:off x="3099655" y="2873384"/>
            <a:ext cx="2944800" cy="389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3100"/>
              <a:buFont typeface="Barlow"/>
              <a:buNone/>
            </a:pPr>
            <a:r>
              <a:rPr b="1" lang="en" sz="3100">
                <a:solidFill>
                  <a:srgbClr val="272525"/>
                </a:solidFill>
                <a:latin typeface="Barlow"/>
                <a:ea typeface="Barlow"/>
                <a:cs typeface="Barlow"/>
                <a:sym typeface="Barlow"/>
              </a:rPr>
              <a:t>400 M</a:t>
            </a:r>
            <a:endParaRPr b="0" i="0" sz="3100" u="none" cap="none" strike="noStrike"/>
          </a:p>
        </p:txBody>
      </p:sp>
      <p:sp>
        <p:nvSpPr>
          <p:cNvPr id="202" name="Google Shape;202;p33"/>
          <p:cNvSpPr/>
          <p:nvPr/>
        </p:nvSpPr>
        <p:spPr>
          <a:xfrm>
            <a:off x="3840486" y="3410353"/>
            <a:ext cx="1293300" cy="1941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272525"/>
              </a:buClr>
              <a:buSzPts val="1200"/>
              <a:buFont typeface="Barlow"/>
              <a:buNone/>
            </a:pPr>
            <a:r>
              <a:rPr b="1" lang="en" sz="1200">
                <a:solidFill>
                  <a:srgbClr val="272525"/>
                </a:solidFill>
                <a:latin typeface="Barlow"/>
                <a:ea typeface="Barlow"/>
                <a:cs typeface="Barlow"/>
                <a:sym typeface="Barlow"/>
              </a:rPr>
              <a:t>active web pages</a:t>
            </a:r>
            <a:endParaRPr b="0" i="0" sz="1200" u="none" cap="none" strike="noStrike"/>
          </a:p>
        </p:txBody>
      </p:sp>
      <p:sp>
        <p:nvSpPr>
          <p:cNvPr id="203" name="Google Shape;203;p33"/>
          <p:cNvSpPr/>
          <p:nvPr/>
        </p:nvSpPr>
        <p:spPr>
          <a:xfrm>
            <a:off x="3099655" y="3675197"/>
            <a:ext cx="2944800" cy="188700"/>
          </a:xfrm>
          <a:prstGeom prst="rect">
            <a:avLst/>
          </a:prstGeom>
          <a:noFill/>
          <a:ln>
            <a:noFill/>
          </a:ln>
        </p:spPr>
        <p:txBody>
          <a:bodyPr anchorCtr="0" anchor="t" bIns="0" lIns="0" spcFirstLastPara="1" rIns="0" wrap="square" tIns="0">
            <a:noAutofit/>
          </a:bodyPr>
          <a:lstStyle/>
          <a:p>
            <a:pPr indent="0" lvl="0" marL="0" marR="0" rtl="0" algn="ctr">
              <a:lnSpc>
                <a:spcPct val="162069"/>
              </a:lnSpc>
              <a:spcBef>
                <a:spcPts val="0"/>
              </a:spcBef>
              <a:spcAft>
                <a:spcPts val="0"/>
              </a:spcAft>
              <a:buClr>
                <a:srgbClr val="272525"/>
              </a:buClr>
              <a:buSzPts val="900"/>
              <a:buFont typeface="Montserrat"/>
              <a:buNone/>
            </a:pPr>
            <a:r>
              <a:rPr lang="en" sz="900">
                <a:solidFill>
                  <a:srgbClr val="272525"/>
                </a:solidFill>
                <a:latin typeface="Montserrat"/>
                <a:ea typeface="Montserrat"/>
                <a:cs typeface="Montserrat"/>
                <a:sym typeface="Montserrat"/>
              </a:rPr>
              <a:t>approximately</a:t>
            </a:r>
            <a:endParaRPr b="0" i="0" sz="9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p:nvPr/>
        </p:nvSpPr>
        <p:spPr>
          <a:xfrm>
            <a:off x="4926951" y="1312218"/>
            <a:ext cx="3005700" cy="21060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09" name="Google Shape;209;p34"/>
          <p:cNvSpPr/>
          <p:nvPr/>
        </p:nvSpPr>
        <p:spPr>
          <a:xfrm>
            <a:off x="2027701" y="1312218"/>
            <a:ext cx="2948100" cy="31527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0000"/>
              </a:highlight>
              <a:latin typeface="Arial"/>
              <a:ea typeface="Arial"/>
              <a:cs typeface="Arial"/>
              <a:sym typeface="Arial"/>
            </a:endParaRPr>
          </a:p>
        </p:txBody>
      </p:sp>
      <p:sp>
        <p:nvSpPr>
          <p:cNvPr id="210" name="Google Shape;210;p34"/>
          <p:cNvSpPr/>
          <p:nvPr/>
        </p:nvSpPr>
        <p:spPr>
          <a:xfrm>
            <a:off x="1340151" y="3798018"/>
            <a:ext cx="3490200" cy="580200"/>
          </a:xfrm>
          <a:prstGeom prst="rect">
            <a:avLst/>
          </a:prstGeom>
          <a:solidFill>
            <a:srgbClr val="E6B8A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Foundation</a:t>
            </a:r>
            <a:endParaRPr b="0" i="0" sz="1400" u="none" cap="none" strike="noStrike">
              <a:solidFill>
                <a:srgbClr val="000000"/>
              </a:solidFill>
              <a:latin typeface="Arial"/>
              <a:ea typeface="Arial"/>
              <a:cs typeface="Arial"/>
              <a:sym typeface="Arial"/>
            </a:endParaRPr>
          </a:p>
        </p:txBody>
      </p:sp>
      <p:sp>
        <p:nvSpPr>
          <p:cNvPr id="211" name="Google Shape;211;p34"/>
          <p:cNvSpPr/>
          <p:nvPr/>
        </p:nvSpPr>
        <p:spPr>
          <a:xfrm>
            <a:off x="1330476" y="3092243"/>
            <a:ext cx="3490200" cy="580200"/>
          </a:xfrm>
          <a:prstGeom prst="rect">
            <a:avLst/>
          </a:prstGeom>
          <a:solidFill>
            <a:srgbClr val="E6B8A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Trust</a:t>
            </a:r>
            <a:endParaRPr b="0" i="0" sz="1400" u="none" cap="none" strike="noStrike">
              <a:solidFill>
                <a:srgbClr val="000000"/>
              </a:solidFill>
              <a:latin typeface="Arial"/>
              <a:ea typeface="Arial"/>
              <a:cs typeface="Arial"/>
              <a:sym typeface="Arial"/>
            </a:endParaRPr>
          </a:p>
        </p:txBody>
      </p:sp>
      <p:sp>
        <p:nvSpPr>
          <p:cNvPr id="212" name="Google Shape;212;p34"/>
          <p:cNvSpPr/>
          <p:nvPr/>
        </p:nvSpPr>
        <p:spPr>
          <a:xfrm>
            <a:off x="2500326" y="2396118"/>
            <a:ext cx="2330100" cy="580200"/>
          </a:xfrm>
          <a:prstGeom prst="rect">
            <a:avLst/>
          </a:prstGeom>
          <a:solidFill>
            <a:srgbClr val="EAD1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Comms        </a:t>
            </a:r>
            <a:endParaRPr b="0" i="0" sz="1400" u="none" cap="none" strike="noStrike">
              <a:solidFill>
                <a:srgbClr val="000000"/>
              </a:solidFill>
              <a:latin typeface="Arial"/>
              <a:ea typeface="Arial"/>
              <a:cs typeface="Arial"/>
              <a:sym typeface="Arial"/>
            </a:endParaRPr>
          </a:p>
        </p:txBody>
      </p:sp>
      <p:sp>
        <p:nvSpPr>
          <p:cNvPr id="213" name="Google Shape;213;p34"/>
          <p:cNvSpPr/>
          <p:nvPr/>
        </p:nvSpPr>
        <p:spPr>
          <a:xfrm>
            <a:off x="2500326" y="1699993"/>
            <a:ext cx="2330100" cy="580200"/>
          </a:xfrm>
          <a:prstGeom prst="rect">
            <a:avLst/>
          </a:prstGeom>
          <a:solidFill>
            <a:srgbClr val="E6B8A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Transaction</a:t>
            </a:r>
            <a:endParaRPr b="0" i="0" sz="1400" u="none" cap="none" strike="noStrike">
              <a:solidFill>
                <a:srgbClr val="000000"/>
              </a:solidFill>
              <a:latin typeface="Arial"/>
              <a:ea typeface="Arial"/>
              <a:cs typeface="Arial"/>
              <a:sym typeface="Arial"/>
            </a:endParaRPr>
          </a:p>
        </p:txBody>
      </p:sp>
      <p:sp>
        <p:nvSpPr>
          <p:cNvPr id="214" name="Google Shape;214;p34"/>
          <p:cNvSpPr/>
          <p:nvPr/>
        </p:nvSpPr>
        <p:spPr>
          <a:xfrm>
            <a:off x="1340151" y="1003868"/>
            <a:ext cx="3490200" cy="580200"/>
          </a:xfrm>
          <a:prstGeom prst="rect">
            <a:avLst/>
          </a:prstGeom>
          <a:solidFill>
            <a:srgbClr val="D9EAD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Applications</a:t>
            </a:r>
            <a:endParaRPr b="0" i="0" sz="1400" u="none" cap="none" strike="noStrike">
              <a:solidFill>
                <a:srgbClr val="000000"/>
              </a:solidFill>
              <a:latin typeface="Arial"/>
              <a:ea typeface="Arial"/>
              <a:cs typeface="Arial"/>
              <a:sym typeface="Arial"/>
            </a:endParaRPr>
          </a:p>
        </p:txBody>
      </p:sp>
      <p:sp>
        <p:nvSpPr>
          <p:cNvPr id="215" name="Google Shape;215;p34"/>
          <p:cNvSpPr/>
          <p:nvPr/>
        </p:nvSpPr>
        <p:spPr>
          <a:xfrm>
            <a:off x="6755051" y="1699918"/>
            <a:ext cx="946800" cy="1276200"/>
          </a:xfrm>
          <a:prstGeom prst="rect">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Compute</a:t>
            </a:r>
            <a:endParaRPr b="0" i="0" sz="1400" u="none" cap="none" strike="noStrike">
              <a:solidFill>
                <a:srgbClr val="000000"/>
              </a:solidFill>
              <a:latin typeface="Arial"/>
              <a:ea typeface="Arial"/>
              <a:cs typeface="Arial"/>
              <a:sym typeface="Arial"/>
            </a:endParaRPr>
          </a:p>
        </p:txBody>
      </p:sp>
      <p:sp>
        <p:nvSpPr>
          <p:cNvPr id="216" name="Google Shape;216;p34"/>
          <p:cNvSpPr/>
          <p:nvPr/>
        </p:nvSpPr>
        <p:spPr>
          <a:xfrm>
            <a:off x="1340151" y="1699993"/>
            <a:ext cx="1024800" cy="1276200"/>
          </a:xfrm>
          <a:prstGeom prst="rect">
            <a:avLst/>
          </a:prstGeom>
          <a:solidFill>
            <a:srgbClr val="D9EAD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Market Place</a:t>
            </a:r>
            <a:r>
              <a:rPr b="1" i="0" lang="en" sz="1400" u="none" cap="none" strike="noStrike">
                <a:solidFill>
                  <a:srgbClr val="FF0000"/>
                </a:solidFill>
                <a:latin typeface="Arial"/>
                <a:ea typeface="Arial"/>
                <a:cs typeface="Arial"/>
                <a:sym typeface="Arial"/>
              </a:rPr>
              <a:t>s</a:t>
            </a:r>
            <a:endParaRPr b="1" i="0" sz="1400" u="none" cap="none" strike="noStrike">
              <a:solidFill>
                <a:srgbClr val="FF0000"/>
              </a:solidFill>
              <a:latin typeface="Arial"/>
              <a:ea typeface="Arial"/>
              <a:cs typeface="Arial"/>
              <a:sym typeface="Arial"/>
            </a:endParaRPr>
          </a:p>
        </p:txBody>
      </p:sp>
      <p:sp>
        <p:nvSpPr>
          <p:cNvPr id="217" name="Google Shape;217;p34"/>
          <p:cNvSpPr/>
          <p:nvPr/>
        </p:nvSpPr>
        <p:spPr>
          <a:xfrm>
            <a:off x="5071976" y="1699943"/>
            <a:ext cx="1508400" cy="580200"/>
          </a:xfrm>
          <a:prstGeom prst="rect">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Agents</a:t>
            </a:r>
            <a:endParaRPr b="0" i="0" sz="1400" u="none" cap="none" strike="noStrike">
              <a:solidFill>
                <a:srgbClr val="000000"/>
              </a:solidFill>
              <a:latin typeface="Arial"/>
              <a:ea typeface="Arial"/>
              <a:cs typeface="Arial"/>
              <a:sym typeface="Arial"/>
            </a:endParaRPr>
          </a:p>
        </p:txBody>
      </p:sp>
      <p:sp>
        <p:nvSpPr>
          <p:cNvPr id="218" name="Google Shape;218;p34"/>
          <p:cNvSpPr/>
          <p:nvPr/>
        </p:nvSpPr>
        <p:spPr>
          <a:xfrm>
            <a:off x="5071976" y="2396068"/>
            <a:ext cx="1508400" cy="580200"/>
          </a:xfrm>
          <a:prstGeom prst="rect">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sp>
        <p:nvSpPr>
          <p:cNvPr id="219" name="Google Shape;219;p34"/>
          <p:cNvSpPr/>
          <p:nvPr/>
        </p:nvSpPr>
        <p:spPr>
          <a:xfrm>
            <a:off x="3931126" y="2444468"/>
            <a:ext cx="850200" cy="4593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A2A</a:t>
            </a:r>
            <a:endParaRPr b="0" i="0" sz="1000" u="none" cap="none" strike="noStrike">
              <a:solidFill>
                <a:srgbClr val="000000"/>
              </a:solidFill>
              <a:latin typeface="Arial"/>
              <a:ea typeface="Arial"/>
              <a:cs typeface="Arial"/>
              <a:sym typeface="Arial"/>
            </a:endParaRPr>
          </a:p>
        </p:txBody>
      </p:sp>
      <p:sp>
        <p:nvSpPr>
          <p:cNvPr id="220" name="Google Shape;220;p34"/>
          <p:cNvSpPr/>
          <p:nvPr/>
        </p:nvSpPr>
        <p:spPr>
          <a:xfrm>
            <a:off x="4281001" y="2688568"/>
            <a:ext cx="558000" cy="278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MCP</a:t>
            </a:r>
            <a:endParaRPr b="0" i="0" sz="800" u="none" cap="none" strike="noStrike">
              <a:solidFill>
                <a:srgbClr val="000000"/>
              </a:solidFill>
              <a:latin typeface="Arial"/>
              <a:ea typeface="Arial"/>
              <a:cs typeface="Arial"/>
              <a:sym typeface="Arial"/>
            </a:endParaRPr>
          </a:p>
        </p:txBody>
      </p:sp>
      <p:sp>
        <p:nvSpPr>
          <p:cNvPr id="221" name="Google Shape;221;p34"/>
          <p:cNvSpPr/>
          <p:nvPr/>
        </p:nvSpPr>
        <p:spPr>
          <a:xfrm>
            <a:off x="2393876" y="3227593"/>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2" name="Google Shape;222;p34"/>
          <p:cNvSpPr/>
          <p:nvPr/>
        </p:nvSpPr>
        <p:spPr>
          <a:xfrm>
            <a:off x="2364951" y="3921318"/>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3" name="Google Shape;223;p34"/>
          <p:cNvSpPr/>
          <p:nvPr/>
        </p:nvSpPr>
        <p:spPr>
          <a:xfrm>
            <a:off x="2645226" y="1823293"/>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4" name="Google Shape;224;p34"/>
          <p:cNvSpPr/>
          <p:nvPr/>
        </p:nvSpPr>
        <p:spPr>
          <a:xfrm>
            <a:off x="5207326" y="1823293"/>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5" name="Google Shape;225;p34"/>
          <p:cNvSpPr/>
          <p:nvPr/>
        </p:nvSpPr>
        <p:spPr>
          <a:xfrm>
            <a:off x="5207326" y="2519418"/>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6" name="Google Shape;226;p34"/>
          <p:cNvSpPr/>
          <p:nvPr/>
        </p:nvSpPr>
        <p:spPr>
          <a:xfrm>
            <a:off x="7175201" y="2519418"/>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7" name="Google Shape;227;p34"/>
          <p:cNvSpPr/>
          <p:nvPr/>
        </p:nvSpPr>
        <p:spPr>
          <a:xfrm>
            <a:off x="2645226" y="2524243"/>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28" name="Google Shape;228;p34"/>
          <p:cNvSpPr/>
          <p:nvPr/>
        </p:nvSpPr>
        <p:spPr>
          <a:xfrm>
            <a:off x="397734" y="142272"/>
            <a:ext cx="8440800" cy="445500"/>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000000"/>
              </a:buClr>
              <a:buSzPts val="2800"/>
              <a:buFont typeface="Arial"/>
              <a:buNone/>
            </a:pPr>
            <a:r>
              <a:rPr b="1" lang="en" sz="2800">
                <a:solidFill>
                  <a:srgbClr val="7068F4"/>
                </a:solidFill>
                <a:latin typeface="Barlow"/>
                <a:ea typeface="Barlow"/>
                <a:cs typeface="Barlow"/>
                <a:sym typeface="Barlow"/>
              </a:rPr>
              <a:t>Infra Problems are Foundational to the Agentic Web</a:t>
            </a:r>
            <a:endParaRPr b="0" i="0" sz="2800" u="none" cap="none" strike="noStrike">
              <a:solidFill>
                <a:srgbClr val="000000"/>
              </a:solidFill>
              <a:latin typeface="Arial"/>
              <a:ea typeface="Arial"/>
              <a:cs typeface="Arial"/>
              <a:sym typeface="Arial"/>
            </a:endParaRPr>
          </a:p>
        </p:txBody>
      </p:sp>
      <p:sp>
        <p:nvSpPr>
          <p:cNvPr id="229" name="Google Shape;229;p34"/>
          <p:cNvSpPr/>
          <p:nvPr/>
        </p:nvSpPr>
        <p:spPr>
          <a:xfrm>
            <a:off x="2152276" y="1823243"/>
            <a:ext cx="106500" cy="333600"/>
          </a:xfrm>
          <a:prstGeom prst="rect">
            <a:avLst/>
          </a:prstGeom>
          <a:solidFill>
            <a:srgbClr val="7068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230" name="Google Shape;230;p34"/>
          <p:cNvSpPr txBox="1"/>
          <p:nvPr/>
        </p:nvSpPr>
        <p:spPr>
          <a:xfrm>
            <a:off x="5778651" y="3018018"/>
            <a:ext cx="2154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Nanda Fabric</a:t>
            </a:r>
            <a:endParaRPr b="0" i="0" sz="1400" u="none" cap="none" strike="noStrike">
              <a:solidFill>
                <a:srgbClr val="FFFFFF"/>
              </a:solidFill>
              <a:latin typeface="Arial"/>
              <a:ea typeface="Arial"/>
              <a:cs typeface="Arial"/>
              <a:sym typeface="Arial"/>
            </a:endParaRPr>
          </a:p>
        </p:txBody>
      </p:sp>
      <p:sp>
        <p:nvSpPr>
          <p:cNvPr id="231" name="Google Shape;231;p34"/>
          <p:cNvSpPr txBox="1"/>
          <p:nvPr/>
        </p:nvSpPr>
        <p:spPr>
          <a:xfrm>
            <a:off x="5739326" y="1580641"/>
            <a:ext cx="9762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1. AutoML</a:t>
            </a:r>
            <a:endParaRPr b="0" i="0" sz="1300" u="none" cap="none" strike="noStrike">
              <a:solidFill>
                <a:srgbClr val="FFFFFF"/>
              </a:solidFill>
              <a:highlight>
                <a:srgbClr val="0000FF"/>
              </a:highlight>
              <a:latin typeface="Arial"/>
              <a:ea typeface="Arial"/>
              <a:cs typeface="Arial"/>
              <a:sym typeface="Arial"/>
            </a:endParaRPr>
          </a:p>
        </p:txBody>
      </p:sp>
      <p:sp>
        <p:nvSpPr>
          <p:cNvPr id="232" name="Google Shape;232;p34"/>
          <p:cNvSpPr txBox="1"/>
          <p:nvPr/>
        </p:nvSpPr>
        <p:spPr>
          <a:xfrm>
            <a:off x="5584176" y="2807943"/>
            <a:ext cx="11316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2. PrivateML</a:t>
            </a:r>
            <a:endParaRPr b="0" i="0" sz="1300" u="none" cap="none" strike="noStrike">
              <a:solidFill>
                <a:srgbClr val="FFFFFF"/>
              </a:solidFill>
              <a:highlight>
                <a:srgbClr val="0000FF"/>
              </a:highlight>
              <a:latin typeface="Arial"/>
              <a:ea typeface="Arial"/>
              <a:cs typeface="Arial"/>
              <a:sym typeface="Arial"/>
            </a:endParaRPr>
          </a:p>
        </p:txBody>
      </p:sp>
      <p:sp>
        <p:nvSpPr>
          <p:cNvPr id="233" name="Google Shape;233;p34"/>
          <p:cNvSpPr txBox="1"/>
          <p:nvPr/>
        </p:nvSpPr>
        <p:spPr>
          <a:xfrm>
            <a:off x="3707324" y="3532883"/>
            <a:ext cx="11316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3. VerifiableAI</a:t>
            </a:r>
            <a:endParaRPr b="0" i="0" sz="1300" u="none" cap="none" strike="noStrike">
              <a:solidFill>
                <a:srgbClr val="FFFFFF"/>
              </a:solidFill>
              <a:highlight>
                <a:srgbClr val="0000FF"/>
              </a:highlight>
              <a:latin typeface="Arial"/>
              <a:ea typeface="Arial"/>
              <a:cs typeface="Arial"/>
              <a:sym typeface="Arial"/>
            </a:endParaRPr>
          </a:p>
        </p:txBody>
      </p:sp>
      <p:sp>
        <p:nvSpPr>
          <p:cNvPr id="234" name="Google Shape;234;p34"/>
          <p:cNvSpPr txBox="1"/>
          <p:nvPr/>
        </p:nvSpPr>
        <p:spPr>
          <a:xfrm>
            <a:off x="3189676" y="1603647"/>
            <a:ext cx="16695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4. KnowledgePricing</a:t>
            </a:r>
            <a:endParaRPr b="0" i="0" sz="1300" u="none" cap="none" strike="noStrike">
              <a:solidFill>
                <a:srgbClr val="FFFFFF"/>
              </a:solidFill>
              <a:highlight>
                <a:srgbClr val="0000FF"/>
              </a:highlight>
              <a:latin typeface="Arial"/>
              <a:ea typeface="Arial"/>
              <a:cs typeface="Arial"/>
              <a:sym typeface="Arial"/>
            </a:endParaRPr>
          </a:p>
        </p:txBody>
      </p:sp>
      <p:sp>
        <p:nvSpPr>
          <p:cNvPr id="235" name="Google Shape;235;p34"/>
          <p:cNvSpPr txBox="1"/>
          <p:nvPr/>
        </p:nvSpPr>
        <p:spPr>
          <a:xfrm>
            <a:off x="2630289" y="2268016"/>
            <a:ext cx="16695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5. Orchestration</a:t>
            </a:r>
            <a:endParaRPr b="0" i="0" sz="700" u="none" cap="none" strike="noStrike">
              <a:solidFill>
                <a:srgbClr val="000000"/>
              </a:solidFill>
              <a:latin typeface="Arial"/>
              <a:ea typeface="Arial"/>
              <a:cs typeface="Arial"/>
              <a:sym typeface="Arial"/>
            </a:endParaRPr>
          </a:p>
        </p:txBody>
      </p:sp>
      <p:sp>
        <p:nvSpPr>
          <p:cNvPr id="236" name="Google Shape;236;p34"/>
          <p:cNvSpPr txBox="1"/>
          <p:nvPr/>
        </p:nvSpPr>
        <p:spPr>
          <a:xfrm>
            <a:off x="1041840" y="2657924"/>
            <a:ext cx="16695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6. Pop Models</a:t>
            </a:r>
            <a:endParaRPr b="0" i="0" sz="700" u="none" cap="none" strike="noStrike">
              <a:solidFill>
                <a:srgbClr val="000000"/>
              </a:solidFill>
              <a:latin typeface="Arial"/>
              <a:ea typeface="Arial"/>
              <a:cs typeface="Arial"/>
              <a:sym typeface="Arial"/>
            </a:endParaRPr>
          </a:p>
        </p:txBody>
      </p:sp>
      <p:sp>
        <p:nvSpPr>
          <p:cNvPr id="237" name="Google Shape;237;p34"/>
          <p:cNvSpPr txBox="1"/>
          <p:nvPr/>
        </p:nvSpPr>
        <p:spPr>
          <a:xfrm>
            <a:off x="1817713" y="1456600"/>
            <a:ext cx="1669500" cy="249600"/>
          </a:xfrm>
          <a:prstGeom prst="rect">
            <a:avLst/>
          </a:prstGeom>
          <a:noFill/>
          <a:ln>
            <a:noFill/>
          </a:ln>
        </p:spPr>
        <p:txBody>
          <a:bodyPr anchorCtr="0" anchor="t" bIns="24475" lIns="48975" spcFirstLastPara="1" rIns="48975" wrap="square" tIns="244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highlight>
                  <a:srgbClr val="0000FF"/>
                </a:highlight>
                <a:latin typeface="Arial"/>
                <a:ea typeface="Arial"/>
                <a:cs typeface="Arial"/>
                <a:sym typeface="Arial"/>
              </a:rPr>
              <a:t>7. CrowdUX</a:t>
            </a:r>
            <a:endParaRPr b="0" i="0" sz="1300" u="none" cap="none" strike="noStrike">
              <a:solidFill>
                <a:srgbClr val="FFFFFF"/>
              </a:solidFill>
              <a:highlight>
                <a:srgbClr val="0000FF"/>
              </a:highlight>
              <a:latin typeface="Arial"/>
              <a:ea typeface="Arial"/>
              <a:cs typeface="Arial"/>
              <a:sym typeface="Arial"/>
            </a:endParaRPr>
          </a:p>
        </p:txBody>
      </p:sp>
      <p:sp>
        <p:nvSpPr>
          <p:cNvPr id="238" name="Google Shape;238;p34"/>
          <p:cNvSpPr/>
          <p:nvPr/>
        </p:nvSpPr>
        <p:spPr>
          <a:xfrm>
            <a:off x="6143188" y="2107994"/>
            <a:ext cx="444900" cy="193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ADK</a:t>
            </a:r>
            <a:endParaRPr b="0" i="0" sz="800" u="none" cap="none" strike="noStrike">
              <a:solidFill>
                <a:srgbClr val="000000"/>
              </a:solidFill>
              <a:latin typeface="Arial"/>
              <a:ea typeface="Arial"/>
              <a:cs typeface="Arial"/>
              <a:sym typeface="Arial"/>
            </a:endParaRPr>
          </a:p>
        </p:txBody>
      </p:sp>
      <p:sp>
        <p:nvSpPr>
          <p:cNvPr id="239" name="Google Shape;239;p34"/>
          <p:cNvSpPr/>
          <p:nvPr/>
        </p:nvSpPr>
        <p:spPr>
          <a:xfrm>
            <a:off x="5427275" y="1024450"/>
            <a:ext cx="2042100" cy="463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Agents at the Edge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p:nvPr/>
        </p:nvSpPr>
        <p:spPr>
          <a:xfrm>
            <a:off x="642938" y="665345"/>
            <a:ext cx="7858200" cy="660000"/>
          </a:xfrm>
          <a:prstGeom prst="rect">
            <a:avLst/>
          </a:prstGeom>
          <a:noFill/>
          <a:ln>
            <a:noFill/>
          </a:ln>
        </p:spPr>
        <p:txBody>
          <a:bodyPr anchorCtr="0" anchor="t" bIns="0" lIns="0" spcFirstLastPara="1" rIns="0" wrap="square" tIns="0">
            <a:noAutofit/>
          </a:bodyPr>
          <a:lstStyle/>
          <a:p>
            <a:pPr indent="0" lvl="0" marL="0" marR="0" rtl="0" algn="ctr">
              <a:lnSpc>
                <a:spcPct val="122583"/>
              </a:lnSpc>
              <a:spcBef>
                <a:spcPts val="0"/>
              </a:spcBef>
              <a:spcAft>
                <a:spcPts val="0"/>
              </a:spcAft>
              <a:buClr>
                <a:srgbClr val="1A1A1A"/>
              </a:buClr>
              <a:buSzPts val="2121"/>
              <a:buFont typeface="Calibri"/>
              <a:buNone/>
            </a:pPr>
            <a:r>
              <a:rPr b="1" i="0" lang="en" sz="2621" u="none" cap="none" strike="noStrike">
                <a:solidFill>
                  <a:srgbClr val="1A1A1A"/>
                </a:solidFill>
                <a:latin typeface="Calibri"/>
                <a:ea typeface="Calibri"/>
                <a:cs typeface="Calibri"/>
                <a:sym typeface="Calibri"/>
              </a:rPr>
              <a:t>Open Infrastructure Research Problems for the Agentic Web</a:t>
            </a:r>
            <a:endParaRPr b="0" i="0" sz="2621" u="none" cap="none" strike="noStrike">
              <a:solidFill>
                <a:schemeClr val="dk1"/>
              </a:solidFill>
              <a:latin typeface="Calibri"/>
              <a:ea typeface="Calibri"/>
              <a:cs typeface="Calibri"/>
              <a:sym typeface="Calibri"/>
            </a:endParaRPr>
          </a:p>
        </p:txBody>
      </p:sp>
      <p:sp>
        <p:nvSpPr>
          <p:cNvPr id="246" name="Google Shape;246;p35"/>
          <p:cNvSpPr/>
          <p:nvPr/>
        </p:nvSpPr>
        <p:spPr>
          <a:xfrm>
            <a:off x="642938"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5"/>
          <p:cNvSpPr/>
          <p:nvPr/>
        </p:nvSpPr>
        <p:spPr>
          <a:xfrm>
            <a:off x="642938"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5"/>
          <p:cNvSpPr/>
          <p:nvPr/>
        </p:nvSpPr>
        <p:spPr>
          <a:xfrm>
            <a:off x="3159909"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5"/>
          <p:cNvSpPr/>
          <p:nvPr/>
        </p:nvSpPr>
        <p:spPr>
          <a:xfrm>
            <a:off x="642938"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5"/>
          <p:cNvSpPr/>
          <p:nvPr/>
        </p:nvSpPr>
        <p:spPr>
          <a:xfrm>
            <a:off x="642938"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5"/>
          <p:cNvSpPr/>
          <p:nvPr/>
        </p:nvSpPr>
        <p:spPr>
          <a:xfrm>
            <a:off x="642938"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1. Distributed Compute Sharing</a:t>
            </a:r>
            <a:endParaRPr b="0" i="0" sz="1183" u="none" cap="none" strike="noStrike">
              <a:solidFill>
                <a:schemeClr val="dk1"/>
              </a:solidFill>
              <a:latin typeface="Calibri"/>
              <a:ea typeface="Calibri"/>
              <a:cs typeface="Calibri"/>
              <a:sym typeface="Calibri"/>
            </a:endParaRPr>
          </a:p>
        </p:txBody>
      </p:sp>
      <p:sp>
        <p:nvSpPr>
          <p:cNvPr id="252" name="Google Shape;252;p35"/>
          <p:cNvSpPr/>
          <p:nvPr/>
        </p:nvSpPr>
        <p:spPr>
          <a:xfrm>
            <a:off x="3309928"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5"/>
          <p:cNvSpPr/>
          <p:nvPr/>
        </p:nvSpPr>
        <p:spPr>
          <a:xfrm>
            <a:off x="3309928"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5"/>
          <p:cNvSpPr/>
          <p:nvPr/>
        </p:nvSpPr>
        <p:spPr>
          <a:xfrm>
            <a:off x="5826900"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5"/>
          <p:cNvSpPr/>
          <p:nvPr/>
        </p:nvSpPr>
        <p:spPr>
          <a:xfrm>
            <a:off x="3309928"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5"/>
          <p:cNvSpPr/>
          <p:nvPr/>
        </p:nvSpPr>
        <p:spPr>
          <a:xfrm>
            <a:off x="3309928"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5"/>
          <p:cNvSpPr/>
          <p:nvPr/>
        </p:nvSpPr>
        <p:spPr>
          <a:xfrm>
            <a:off x="3309928"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2. Decentralized Data Sharing</a:t>
            </a:r>
            <a:endParaRPr b="0" i="0" sz="1183" u="none" cap="none" strike="noStrike">
              <a:solidFill>
                <a:schemeClr val="dk1"/>
              </a:solidFill>
              <a:latin typeface="Calibri"/>
              <a:ea typeface="Calibri"/>
              <a:cs typeface="Calibri"/>
              <a:sym typeface="Calibri"/>
            </a:endParaRPr>
          </a:p>
        </p:txBody>
      </p:sp>
      <p:sp>
        <p:nvSpPr>
          <p:cNvPr id="258" name="Google Shape;258;p35"/>
          <p:cNvSpPr/>
          <p:nvPr/>
        </p:nvSpPr>
        <p:spPr>
          <a:xfrm>
            <a:off x="5976919"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5"/>
          <p:cNvSpPr/>
          <p:nvPr/>
        </p:nvSpPr>
        <p:spPr>
          <a:xfrm>
            <a:off x="5976919"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5"/>
          <p:cNvSpPr/>
          <p:nvPr/>
        </p:nvSpPr>
        <p:spPr>
          <a:xfrm>
            <a:off x="8493919"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5"/>
          <p:cNvSpPr/>
          <p:nvPr/>
        </p:nvSpPr>
        <p:spPr>
          <a:xfrm>
            <a:off x="5976919"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5"/>
          <p:cNvSpPr/>
          <p:nvPr/>
        </p:nvSpPr>
        <p:spPr>
          <a:xfrm>
            <a:off x="5976919"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5"/>
          <p:cNvSpPr/>
          <p:nvPr/>
        </p:nvSpPr>
        <p:spPr>
          <a:xfrm>
            <a:off x="5976919"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3. Domain-Specific Playbooks</a:t>
            </a:r>
            <a:endParaRPr b="0" i="0" sz="1183" u="none" cap="none" strike="noStrike">
              <a:solidFill>
                <a:schemeClr val="dk1"/>
              </a:solidFill>
              <a:latin typeface="Calibri"/>
              <a:ea typeface="Calibri"/>
              <a:cs typeface="Calibri"/>
              <a:sym typeface="Calibri"/>
            </a:endParaRPr>
          </a:p>
        </p:txBody>
      </p:sp>
      <p:sp>
        <p:nvSpPr>
          <p:cNvPr id="264" name="Google Shape;264;p35"/>
          <p:cNvSpPr/>
          <p:nvPr/>
        </p:nvSpPr>
        <p:spPr>
          <a:xfrm>
            <a:off x="642938"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5"/>
          <p:cNvSpPr/>
          <p:nvPr/>
        </p:nvSpPr>
        <p:spPr>
          <a:xfrm>
            <a:off x="642938"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5"/>
          <p:cNvSpPr/>
          <p:nvPr/>
        </p:nvSpPr>
        <p:spPr>
          <a:xfrm>
            <a:off x="3159909"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5"/>
          <p:cNvSpPr/>
          <p:nvPr/>
        </p:nvSpPr>
        <p:spPr>
          <a:xfrm>
            <a:off x="642938"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5"/>
          <p:cNvSpPr/>
          <p:nvPr/>
        </p:nvSpPr>
        <p:spPr>
          <a:xfrm>
            <a:off x="642938"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5"/>
          <p:cNvSpPr/>
          <p:nvPr/>
        </p:nvSpPr>
        <p:spPr>
          <a:xfrm>
            <a:off x="642938"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4. Cross-Framework Teaming</a:t>
            </a:r>
            <a:endParaRPr b="0" i="0" sz="1183" u="none" cap="none" strike="noStrike">
              <a:solidFill>
                <a:schemeClr val="dk1"/>
              </a:solidFill>
              <a:latin typeface="Calibri"/>
              <a:ea typeface="Calibri"/>
              <a:cs typeface="Calibri"/>
              <a:sym typeface="Calibri"/>
            </a:endParaRPr>
          </a:p>
        </p:txBody>
      </p:sp>
      <p:sp>
        <p:nvSpPr>
          <p:cNvPr id="270" name="Google Shape;270;p35"/>
          <p:cNvSpPr/>
          <p:nvPr/>
        </p:nvSpPr>
        <p:spPr>
          <a:xfrm>
            <a:off x="3309928"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5"/>
          <p:cNvSpPr/>
          <p:nvPr/>
        </p:nvSpPr>
        <p:spPr>
          <a:xfrm>
            <a:off x="3309928"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5"/>
          <p:cNvSpPr/>
          <p:nvPr/>
        </p:nvSpPr>
        <p:spPr>
          <a:xfrm>
            <a:off x="5826900"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5"/>
          <p:cNvSpPr/>
          <p:nvPr/>
        </p:nvSpPr>
        <p:spPr>
          <a:xfrm>
            <a:off x="3309928"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5"/>
          <p:cNvSpPr/>
          <p:nvPr/>
        </p:nvSpPr>
        <p:spPr>
          <a:xfrm>
            <a:off x="3309928"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5"/>
          <p:cNvSpPr/>
          <p:nvPr/>
        </p:nvSpPr>
        <p:spPr>
          <a:xfrm>
            <a:off x="3309928"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5. Paper-Agents Networks</a:t>
            </a:r>
            <a:endParaRPr b="0" i="0" sz="1183" u="none" cap="none" strike="noStrike">
              <a:solidFill>
                <a:schemeClr val="dk1"/>
              </a:solidFill>
              <a:latin typeface="Calibri"/>
              <a:ea typeface="Calibri"/>
              <a:cs typeface="Calibri"/>
              <a:sym typeface="Calibri"/>
            </a:endParaRPr>
          </a:p>
        </p:txBody>
      </p:sp>
      <p:sp>
        <p:nvSpPr>
          <p:cNvPr id="276" name="Google Shape;276;p35"/>
          <p:cNvSpPr/>
          <p:nvPr/>
        </p:nvSpPr>
        <p:spPr>
          <a:xfrm>
            <a:off x="5976919"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5"/>
          <p:cNvSpPr/>
          <p:nvPr/>
        </p:nvSpPr>
        <p:spPr>
          <a:xfrm>
            <a:off x="5976919"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5"/>
          <p:cNvSpPr/>
          <p:nvPr/>
        </p:nvSpPr>
        <p:spPr>
          <a:xfrm>
            <a:off x="8493919"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5"/>
          <p:cNvSpPr/>
          <p:nvPr/>
        </p:nvSpPr>
        <p:spPr>
          <a:xfrm>
            <a:off x="5976919"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5"/>
          <p:cNvSpPr/>
          <p:nvPr/>
        </p:nvSpPr>
        <p:spPr>
          <a:xfrm>
            <a:off x="5976919"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5"/>
          <p:cNvSpPr/>
          <p:nvPr/>
        </p:nvSpPr>
        <p:spPr>
          <a:xfrm>
            <a:off x="5976919"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6. Agent Prediction Markets</a:t>
            </a:r>
            <a:endParaRPr b="0" i="0" sz="1183" u="none" cap="none" strike="noStrike">
              <a:solidFill>
                <a:schemeClr val="dk1"/>
              </a:solidFill>
              <a:latin typeface="Calibri"/>
              <a:ea typeface="Calibri"/>
              <a:cs typeface="Calibri"/>
              <a:sym typeface="Calibri"/>
            </a:endParaRPr>
          </a:p>
        </p:txBody>
      </p:sp>
      <p:sp>
        <p:nvSpPr>
          <p:cNvPr id="282" name="Google Shape;282;p35"/>
          <p:cNvSpPr/>
          <p:nvPr/>
        </p:nvSpPr>
        <p:spPr>
          <a:xfrm>
            <a:off x="642938"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5"/>
          <p:cNvSpPr/>
          <p:nvPr/>
        </p:nvSpPr>
        <p:spPr>
          <a:xfrm>
            <a:off x="642938"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5"/>
          <p:cNvSpPr/>
          <p:nvPr/>
        </p:nvSpPr>
        <p:spPr>
          <a:xfrm>
            <a:off x="3159909"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5"/>
          <p:cNvSpPr/>
          <p:nvPr/>
        </p:nvSpPr>
        <p:spPr>
          <a:xfrm>
            <a:off x="642938"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
          <p:cNvSpPr/>
          <p:nvPr/>
        </p:nvSpPr>
        <p:spPr>
          <a:xfrm>
            <a:off x="642938"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a:off x="642938"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7. Compute-Backed Investment</a:t>
            </a:r>
            <a:endParaRPr b="0" i="0" sz="1183" u="none" cap="none" strike="noStrike">
              <a:solidFill>
                <a:schemeClr val="dk1"/>
              </a:solidFill>
              <a:latin typeface="Calibri"/>
              <a:ea typeface="Calibri"/>
              <a:cs typeface="Calibri"/>
              <a:sym typeface="Calibri"/>
            </a:endParaRPr>
          </a:p>
        </p:txBody>
      </p:sp>
      <p:sp>
        <p:nvSpPr>
          <p:cNvPr id="288" name="Google Shape;288;p35"/>
          <p:cNvSpPr/>
          <p:nvPr/>
        </p:nvSpPr>
        <p:spPr>
          <a:xfrm>
            <a:off x="3309928"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p:nvPr/>
        </p:nvSpPr>
        <p:spPr>
          <a:xfrm>
            <a:off x="3309928"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5"/>
          <p:cNvSpPr/>
          <p:nvPr/>
        </p:nvSpPr>
        <p:spPr>
          <a:xfrm>
            <a:off x="5826900"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5"/>
          <p:cNvSpPr/>
          <p:nvPr/>
        </p:nvSpPr>
        <p:spPr>
          <a:xfrm>
            <a:off x="3309928"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5"/>
          <p:cNvSpPr/>
          <p:nvPr/>
        </p:nvSpPr>
        <p:spPr>
          <a:xfrm>
            <a:off x="3309928"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5"/>
          <p:cNvSpPr/>
          <p:nvPr/>
        </p:nvSpPr>
        <p:spPr>
          <a:xfrm>
            <a:off x="3309928"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8. Native Payment Rails</a:t>
            </a:r>
            <a:endParaRPr b="0" i="0" sz="1183" u="none" cap="none" strike="noStrike">
              <a:solidFill>
                <a:schemeClr val="dk1"/>
              </a:solidFill>
              <a:latin typeface="Calibri"/>
              <a:ea typeface="Calibri"/>
              <a:cs typeface="Calibri"/>
              <a:sym typeface="Calibri"/>
            </a:endParaRPr>
          </a:p>
        </p:txBody>
      </p:sp>
      <p:sp>
        <p:nvSpPr>
          <p:cNvPr id="294" name="Google Shape;294;p35"/>
          <p:cNvSpPr/>
          <p:nvPr/>
        </p:nvSpPr>
        <p:spPr>
          <a:xfrm>
            <a:off x="5976919"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5"/>
          <p:cNvSpPr/>
          <p:nvPr/>
        </p:nvSpPr>
        <p:spPr>
          <a:xfrm>
            <a:off x="5976919"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5"/>
          <p:cNvSpPr/>
          <p:nvPr/>
        </p:nvSpPr>
        <p:spPr>
          <a:xfrm>
            <a:off x="8493919"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p:nvPr/>
        </p:nvSpPr>
        <p:spPr>
          <a:xfrm>
            <a:off x="5976919"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5"/>
          <p:cNvSpPr/>
          <p:nvPr/>
        </p:nvSpPr>
        <p:spPr>
          <a:xfrm>
            <a:off x="5976919"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5"/>
          <p:cNvSpPr/>
          <p:nvPr/>
        </p:nvSpPr>
        <p:spPr>
          <a:xfrm>
            <a:off x="5976919"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9. Knowledge Markets &amp; Reputation</a:t>
            </a:r>
            <a:endParaRPr b="0" i="0" sz="1183"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6"/>
          <p:cNvSpPr/>
          <p:nvPr/>
        </p:nvSpPr>
        <p:spPr>
          <a:xfrm>
            <a:off x="7144" y="0"/>
            <a:ext cx="9129600" cy="728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6"/>
          <p:cNvSpPr/>
          <p:nvPr/>
        </p:nvSpPr>
        <p:spPr>
          <a:xfrm>
            <a:off x="435769" y="272355"/>
            <a:ext cx="37962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1902" u="none" cap="none" strike="noStrike">
                <a:solidFill>
                  <a:srgbClr val="1A1A1A"/>
                </a:solidFill>
                <a:latin typeface="Calibri"/>
                <a:ea typeface="Calibri"/>
                <a:cs typeface="Calibri"/>
                <a:sym typeface="Calibri"/>
              </a:rPr>
              <a:t>Distributed Compute Sharing</a:t>
            </a:r>
            <a:endParaRPr b="0" i="0" sz="1902" u="none" cap="none" strike="noStrike">
              <a:solidFill>
                <a:schemeClr val="dk1"/>
              </a:solidFill>
              <a:latin typeface="Calibri"/>
              <a:ea typeface="Calibri"/>
              <a:cs typeface="Calibri"/>
              <a:sym typeface="Calibri"/>
            </a:endParaRPr>
          </a:p>
        </p:txBody>
      </p:sp>
      <p:sp>
        <p:nvSpPr>
          <p:cNvPr id="308" name="Google Shape;308;p36"/>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Elastic Network-Scale Execution</a:t>
            </a:r>
            <a:endParaRPr b="0" i="0" sz="1390" u="none" cap="none" strike="noStrike">
              <a:solidFill>
                <a:schemeClr val="dk1"/>
              </a:solidFill>
              <a:latin typeface="Calibri"/>
              <a:ea typeface="Calibri"/>
              <a:cs typeface="Calibri"/>
              <a:sym typeface="Calibri"/>
            </a:endParaRPr>
          </a:p>
        </p:txBody>
      </p:sp>
      <p:sp>
        <p:nvSpPr>
          <p:cNvPr id="309" name="Google Shape;309;p36"/>
          <p:cNvSpPr/>
          <p:nvPr/>
        </p:nvSpPr>
        <p:spPr>
          <a:xfrm>
            <a:off x="435769" y="1514475"/>
            <a:ext cx="3921900" cy="8229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242" u="none" cap="none" strike="noStrike">
                <a:solidFill>
                  <a:srgbClr val="2D3436"/>
                </a:solidFill>
                <a:latin typeface="Calibri"/>
                <a:ea typeface="Calibri"/>
                <a:cs typeface="Calibri"/>
                <a:sym typeface="Calibri"/>
              </a:rPr>
              <a:t>Agents must be able to dynamically lease compute resources (GPUs/CPUs) to handle burst workloads. This transforms agents from isolated scripts into a fluid "fabric" of composed capabilities.</a:t>
            </a:r>
            <a:endParaRPr b="0" i="0" sz="1242" u="none" cap="none" strike="noStrike">
              <a:solidFill>
                <a:schemeClr val="dk1"/>
              </a:solidFill>
              <a:latin typeface="Calibri"/>
              <a:ea typeface="Calibri"/>
              <a:cs typeface="Calibri"/>
              <a:sym typeface="Calibri"/>
            </a:endParaRPr>
          </a:p>
        </p:txBody>
      </p:sp>
      <p:sp>
        <p:nvSpPr>
          <p:cNvPr id="310" name="Google Shape;310;p36"/>
          <p:cNvSpPr/>
          <p:nvPr/>
        </p:nvSpPr>
        <p:spPr>
          <a:xfrm>
            <a:off x="435769" y="2877739"/>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185" u="none" cap="none" strike="noStrike">
                <a:solidFill>
                  <a:srgbClr val="2D3436"/>
                </a:solidFill>
                <a:latin typeface="Calibri"/>
                <a:ea typeface="Calibri"/>
                <a:cs typeface="Calibri"/>
                <a:sym typeface="Calibri"/>
              </a:rPr>
              <a:t>Significance:</a:t>
            </a:r>
            <a:r>
              <a:rPr b="0" i="0" lang="en" sz="1242" u="none" cap="none" strike="noStrike">
                <a:solidFill>
                  <a:srgbClr val="2D3436"/>
                </a:solidFill>
                <a:latin typeface="Calibri"/>
                <a:ea typeface="Calibri"/>
                <a:cs typeface="Calibri"/>
                <a:sym typeface="Calibri"/>
              </a:rPr>
              <a:t> Scales agent capabilities beyond single-node limits, enabling complex multi-agent simulations and real-time processing.</a:t>
            </a:r>
            <a:endParaRPr b="0" i="0" sz="1185" u="none" cap="none" strike="noStrike">
              <a:solidFill>
                <a:schemeClr val="dk1"/>
              </a:solidFill>
              <a:latin typeface="Calibri"/>
              <a:ea typeface="Calibri"/>
              <a:cs typeface="Calibri"/>
              <a:sym typeface="Calibri"/>
            </a:endParaRPr>
          </a:p>
        </p:txBody>
      </p:sp>
      <p:sp>
        <p:nvSpPr>
          <p:cNvPr id="311" name="Google Shape;311;p36"/>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Critical Research Problems</a:t>
            </a:r>
            <a:endParaRPr b="0" i="0" sz="1390" u="none" cap="none" strike="noStrike">
              <a:solidFill>
                <a:schemeClr val="dk1"/>
              </a:solidFill>
              <a:latin typeface="Calibri"/>
              <a:ea typeface="Calibri"/>
              <a:cs typeface="Calibri"/>
              <a:sym typeface="Calibri"/>
            </a:endParaRPr>
          </a:p>
        </p:txBody>
      </p:sp>
      <p:sp>
        <p:nvSpPr>
          <p:cNvPr id="312" name="Google Shape;312;p36"/>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784" u="none" cap="none" strike="noStrike">
                <a:solidFill>
                  <a:srgbClr val="2980B9"/>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313" name="Google Shape;313;p36"/>
          <p:cNvSpPr/>
          <p:nvPr/>
        </p:nvSpPr>
        <p:spPr>
          <a:xfrm>
            <a:off x="5250646" y="1514475"/>
            <a:ext cx="1777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DNS for Compute:</a:t>
            </a:r>
            <a:endParaRPr b="0" i="0" sz="1084" u="none" cap="none" strike="noStrike">
              <a:solidFill>
                <a:schemeClr val="dk1"/>
              </a:solidFill>
              <a:latin typeface="Calibri"/>
              <a:ea typeface="Calibri"/>
              <a:cs typeface="Calibri"/>
              <a:sym typeface="Calibri"/>
            </a:endParaRPr>
          </a:p>
        </p:txBody>
      </p:sp>
      <p:sp>
        <p:nvSpPr>
          <p:cNvPr id="314" name="Google Shape;314;p36"/>
          <p:cNvSpPr/>
          <p:nvPr/>
        </p:nvSpPr>
        <p:spPr>
          <a:xfrm>
            <a:off x="5250656" y="1674376"/>
            <a:ext cx="32166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Protocols for advertising and scheduling compute with strict latency and SLA constraints.</a:t>
            </a:r>
            <a:endParaRPr b="0" i="0" sz="1134" u="none" cap="none" strike="noStrike">
              <a:solidFill>
                <a:schemeClr val="dk1"/>
              </a:solidFill>
              <a:latin typeface="Calibri"/>
              <a:ea typeface="Calibri"/>
              <a:cs typeface="Calibri"/>
              <a:sym typeface="Calibri"/>
            </a:endParaRPr>
          </a:p>
        </p:txBody>
      </p:sp>
      <p:sp>
        <p:nvSpPr>
          <p:cNvPr id="315" name="Google Shape;315;p36"/>
          <p:cNvSpPr/>
          <p:nvPr/>
        </p:nvSpPr>
        <p:spPr>
          <a:xfrm>
            <a:off x="5072063" y="2172654"/>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784" u="none" cap="none" strike="noStrike">
                <a:solidFill>
                  <a:srgbClr val="2980B9"/>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316" name="Google Shape;316;p36"/>
          <p:cNvSpPr/>
          <p:nvPr/>
        </p:nvSpPr>
        <p:spPr>
          <a:xfrm>
            <a:off x="5250646" y="2172650"/>
            <a:ext cx="1820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Verifiable Isolation:</a:t>
            </a:r>
            <a:endParaRPr b="0" i="0" sz="1084" u="none" cap="none" strike="noStrike">
              <a:solidFill>
                <a:schemeClr val="dk1"/>
              </a:solidFill>
              <a:latin typeface="Calibri"/>
              <a:ea typeface="Calibri"/>
              <a:cs typeface="Calibri"/>
              <a:sym typeface="Calibri"/>
            </a:endParaRPr>
          </a:p>
        </p:txBody>
      </p:sp>
      <p:sp>
        <p:nvSpPr>
          <p:cNvPr id="317" name="Google Shape;317;p36"/>
          <p:cNvSpPr/>
          <p:nvPr/>
        </p:nvSpPr>
        <p:spPr>
          <a:xfrm>
            <a:off x="5250656" y="2332555"/>
            <a:ext cx="32184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Using Trusted Execution Environments (TEEs) to ensure secure and auditable execution.</a:t>
            </a:r>
            <a:endParaRPr b="0" i="0" sz="1134" u="none" cap="none" strike="noStrike">
              <a:solidFill>
                <a:schemeClr val="dk1"/>
              </a:solidFill>
              <a:latin typeface="Calibri"/>
              <a:ea typeface="Calibri"/>
              <a:cs typeface="Calibri"/>
              <a:sym typeface="Calibri"/>
            </a:endParaRPr>
          </a:p>
        </p:txBody>
      </p:sp>
      <p:sp>
        <p:nvSpPr>
          <p:cNvPr id="318" name="Google Shape;318;p36"/>
          <p:cNvSpPr/>
          <p:nvPr/>
        </p:nvSpPr>
        <p:spPr>
          <a:xfrm>
            <a:off x="5072063" y="2839416"/>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784" u="none" cap="none" strike="noStrike">
                <a:solidFill>
                  <a:srgbClr val="2980B9"/>
                </a:solidFill>
                <a:latin typeface="Calibri"/>
                <a:ea typeface="Calibri"/>
                <a:cs typeface="Calibri"/>
                <a:sym typeface="Calibri"/>
              </a:rPr>
              <a:t>•</a:t>
            </a:r>
            <a:endParaRPr b="0" i="0" sz="784" u="none" cap="none" strike="noStrike">
              <a:solidFill>
                <a:schemeClr val="dk1"/>
              </a:solidFill>
              <a:latin typeface="Calibri"/>
              <a:ea typeface="Calibri"/>
              <a:cs typeface="Calibri"/>
              <a:sym typeface="Calibri"/>
            </a:endParaRPr>
          </a:p>
        </p:txBody>
      </p:sp>
      <p:sp>
        <p:nvSpPr>
          <p:cNvPr id="319" name="Google Shape;319;p36"/>
          <p:cNvSpPr/>
          <p:nvPr/>
        </p:nvSpPr>
        <p:spPr>
          <a:xfrm>
            <a:off x="5250647" y="2839425"/>
            <a:ext cx="2498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Machine-Speed Accounting:</a:t>
            </a:r>
            <a:endParaRPr b="0" i="0" sz="1084" u="none" cap="none" strike="noStrike">
              <a:solidFill>
                <a:schemeClr val="dk1"/>
              </a:solidFill>
              <a:latin typeface="Calibri"/>
              <a:ea typeface="Calibri"/>
              <a:cs typeface="Calibri"/>
              <a:sym typeface="Calibri"/>
            </a:endParaRPr>
          </a:p>
        </p:txBody>
      </p:sp>
      <p:sp>
        <p:nvSpPr>
          <p:cNvPr id="320" name="Google Shape;320;p36"/>
          <p:cNvSpPr/>
          <p:nvPr/>
        </p:nvSpPr>
        <p:spPr>
          <a:xfrm>
            <a:off x="5250656" y="3031967"/>
            <a:ext cx="33288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Automated metering and proof-of-compute to resolve disputes instantly.</a:t>
            </a:r>
            <a:endParaRPr b="0" i="0" sz="1134"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7"/>
          <p:cNvSpPr/>
          <p:nvPr/>
        </p:nvSpPr>
        <p:spPr>
          <a:xfrm>
            <a:off x="7144" y="0"/>
            <a:ext cx="9129600" cy="728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7"/>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7"/>
          <p:cNvSpPr/>
          <p:nvPr/>
        </p:nvSpPr>
        <p:spPr>
          <a:xfrm>
            <a:off x="435769" y="272355"/>
            <a:ext cx="35943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1902" u="none" cap="none" strike="noStrike">
                <a:solidFill>
                  <a:srgbClr val="1A1A1A"/>
                </a:solidFill>
                <a:latin typeface="Calibri"/>
                <a:ea typeface="Calibri"/>
                <a:cs typeface="Calibri"/>
                <a:sym typeface="Calibri"/>
              </a:rPr>
              <a:t>Decentralized Data Sharing</a:t>
            </a:r>
            <a:endParaRPr b="0" i="0" sz="1902" u="none" cap="none" strike="noStrike">
              <a:solidFill>
                <a:schemeClr val="dk1"/>
              </a:solidFill>
              <a:latin typeface="Calibri"/>
              <a:ea typeface="Calibri"/>
              <a:cs typeface="Calibri"/>
              <a:sym typeface="Calibri"/>
            </a:endParaRPr>
          </a:p>
        </p:txBody>
      </p:sp>
      <p:sp>
        <p:nvSpPr>
          <p:cNvPr id="329" name="Google Shape;329;p37"/>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Breaking Data Silos Safely</a:t>
            </a:r>
            <a:endParaRPr b="0" i="0" sz="1390" u="none" cap="none" strike="noStrike">
              <a:solidFill>
                <a:schemeClr val="dk1"/>
              </a:solidFill>
              <a:latin typeface="Calibri"/>
              <a:ea typeface="Calibri"/>
              <a:cs typeface="Calibri"/>
              <a:sym typeface="Calibri"/>
            </a:endParaRPr>
          </a:p>
        </p:txBody>
      </p:sp>
      <p:sp>
        <p:nvSpPr>
          <p:cNvPr id="330" name="Google Shape;330;p37"/>
          <p:cNvSpPr/>
          <p:nvPr/>
        </p:nvSpPr>
        <p:spPr>
          <a:xfrm>
            <a:off x="435769" y="1514475"/>
            <a:ext cx="3921900" cy="8229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242" u="none" cap="none" strike="noStrike">
                <a:solidFill>
                  <a:srgbClr val="2D3436"/>
                </a:solidFill>
                <a:latin typeface="Calibri"/>
                <a:ea typeface="Calibri"/>
                <a:cs typeface="Calibri"/>
                <a:sym typeface="Calibri"/>
              </a:rPr>
              <a:t>The most valuable agentic work is currently blocked by data silos. We need standard protocols for agents to negotiate access to data that remains in its home domain, such as personal vaults or enterprise databases.</a:t>
            </a:r>
            <a:endParaRPr b="0" i="0" sz="1242" u="none" cap="none" strike="noStrike">
              <a:solidFill>
                <a:schemeClr val="dk1"/>
              </a:solidFill>
              <a:latin typeface="Calibri"/>
              <a:ea typeface="Calibri"/>
              <a:cs typeface="Calibri"/>
              <a:sym typeface="Calibri"/>
            </a:endParaRPr>
          </a:p>
        </p:txBody>
      </p:sp>
      <p:sp>
        <p:nvSpPr>
          <p:cNvPr id="331" name="Google Shape;331;p37"/>
          <p:cNvSpPr/>
          <p:nvPr/>
        </p:nvSpPr>
        <p:spPr>
          <a:xfrm>
            <a:off x="435769" y="2921561"/>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185" u="none" cap="none" strike="noStrike">
                <a:solidFill>
                  <a:srgbClr val="2D3436"/>
                </a:solidFill>
                <a:latin typeface="Calibri"/>
                <a:ea typeface="Calibri"/>
                <a:cs typeface="Calibri"/>
                <a:sym typeface="Calibri"/>
              </a:rPr>
              <a:t>Objective:</a:t>
            </a:r>
            <a:r>
              <a:rPr b="0" i="0" lang="en" sz="1242" u="none" cap="none" strike="noStrike">
                <a:solidFill>
                  <a:srgbClr val="2D3436"/>
                </a:solidFill>
                <a:latin typeface="Calibri"/>
                <a:ea typeface="Calibri"/>
                <a:cs typeface="Calibri"/>
                <a:sym typeface="Calibri"/>
              </a:rPr>
              <a:t> Enable cross-silo coordination without the need for a single, centralized data lake, maintaining data sovereignty and privacy.</a:t>
            </a:r>
            <a:endParaRPr b="0" i="0" sz="1185" u="none" cap="none" strike="noStrike">
              <a:solidFill>
                <a:schemeClr val="dk1"/>
              </a:solidFill>
              <a:latin typeface="Calibri"/>
              <a:ea typeface="Calibri"/>
              <a:cs typeface="Calibri"/>
              <a:sym typeface="Calibri"/>
            </a:endParaRPr>
          </a:p>
        </p:txBody>
      </p:sp>
      <p:sp>
        <p:nvSpPr>
          <p:cNvPr id="332" name="Google Shape;332;p37"/>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Critical Research Problems</a:t>
            </a:r>
            <a:endParaRPr b="0" i="0" sz="1390" u="none" cap="none" strike="noStrike">
              <a:solidFill>
                <a:schemeClr val="dk1"/>
              </a:solidFill>
              <a:latin typeface="Calibri"/>
              <a:ea typeface="Calibri"/>
              <a:cs typeface="Calibri"/>
              <a:sym typeface="Calibri"/>
            </a:endParaRPr>
          </a:p>
        </p:txBody>
      </p:sp>
      <p:sp>
        <p:nvSpPr>
          <p:cNvPr id="333" name="Google Shape;333;p37"/>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34" name="Google Shape;334;p37"/>
          <p:cNvSpPr/>
          <p:nvPr/>
        </p:nvSpPr>
        <p:spPr>
          <a:xfrm>
            <a:off x="5250648" y="1514475"/>
            <a:ext cx="16203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Selective Disclosure:</a:t>
            </a:r>
            <a:endParaRPr b="0" i="0" sz="1084" u="none" cap="none" strike="noStrike">
              <a:solidFill>
                <a:schemeClr val="dk1"/>
              </a:solidFill>
              <a:latin typeface="Calibri"/>
              <a:ea typeface="Calibri"/>
              <a:cs typeface="Calibri"/>
              <a:sym typeface="Calibri"/>
            </a:endParaRPr>
          </a:p>
        </p:txBody>
      </p:sp>
      <p:sp>
        <p:nvSpPr>
          <p:cNvPr id="335" name="Google Shape;335;p37"/>
          <p:cNvSpPr/>
          <p:nvPr/>
        </p:nvSpPr>
        <p:spPr>
          <a:xfrm>
            <a:off x="5250656" y="1696870"/>
            <a:ext cx="31863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Finding relevant data without leaking sensitive metadata during the discovery phase.</a:t>
            </a:r>
            <a:endParaRPr b="0" i="0" sz="1134" u="none" cap="none" strike="noStrike">
              <a:solidFill>
                <a:schemeClr val="dk1"/>
              </a:solidFill>
              <a:latin typeface="Calibri"/>
              <a:ea typeface="Calibri"/>
              <a:cs typeface="Calibri"/>
              <a:sym typeface="Calibri"/>
            </a:endParaRPr>
          </a:p>
        </p:txBody>
      </p:sp>
      <p:sp>
        <p:nvSpPr>
          <p:cNvPr id="336" name="Google Shape;336;p37"/>
          <p:cNvSpPr/>
          <p:nvPr/>
        </p:nvSpPr>
        <p:spPr>
          <a:xfrm>
            <a:off x="5072063" y="2163573"/>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37" name="Google Shape;337;p37"/>
          <p:cNvSpPr/>
          <p:nvPr/>
        </p:nvSpPr>
        <p:spPr>
          <a:xfrm>
            <a:off x="5250648" y="2163575"/>
            <a:ext cx="19347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Queryable Permissioning:</a:t>
            </a:r>
            <a:endParaRPr b="0" i="0" sz="1084" u="none" cap="none" strike="noStrike">
              <a:solidFill>
                <a:schemeClr val="dk1"/>
              </a:solidFill>
              <a:latin typeface="Calibri"/>
              <a:ea typeface="Calibri"/>
              <a:cs typeface="Calibri"/>
              <a:sym typeface="Calibri"/>
            </a:endParaRPr>
          </a:p>
        </p:txBody>
      </p:sp>
      <p:sp>
        <p:nvSpPr>
          <p:cNvPr id="338" name="Google Shape;338;p37"/>
          <p:cNvSpPr/>
          <p:nvPr/>
        </p:nvSpPr>
        <p:spPr>
          <a:xfrm>
            <a:off x="5250656" y="2355216"/>
            <a:ext cx="32745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Managing complex access claims and instant revocation across administrative boundaries.</a:t>
            </a:r>
            <a:endParaRPr b="0" i="0" sz="1134" u="none" cap="none" strike="noStrike">
              <a:solidFill>
                <a:schemeClr val="dk1"/>
              </a:solidFill>
              <a:latin typeface="Calibri"/>
              <a:ea typeface="Calibri"/>
              <a:cs typeface="Calibri"/>
              <a:sym typeface="Calibri"/>
            </a:endParaRPr>
          </a:p>
        </p:txBody>
      </p:sp>
      <p:sp>
        <p:nvSpPr>
          <p:cNvPr id="339" name="Google Shape;339;p37"/>
          <p:cNvSpPr/>
          <p:nvPr/>
        </p:nvSpPr>
        <p:spPr>
          <a:xfrm>
            <a:off x="5072063" y="2831168"/>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40" name="Google Shape;340;p37"/>
          <p:cNvSpPr/>
          <p:nvPr/>
        </p:nvSpPr>
        <p:spPr>
          <a:xfrm>
            <a:off x="5250648" y="2831163"/>
            <a:ext cx="1758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End-to-End Provenance:</a:t>
            </a:r>
            <a:endParaRPr b="0" i="0" sz="1084" u="none" cap="none" strike="noStrike">
              <a:solidFill>
                <a:schemeClr val="dk1"/>
              </a:solidFill>
              <a:latin typeface="Calibri"/>
              <a:ea typeface="Calibri"/>
              <a:cs typeface="Calibri"/>
              <a:sym typeface="Calibri"/>
            </a:endParaRPr>
          </a:p>
        </p:txBody>
      </p:sp>
      <p:sp>
        <p:nvSpPr>
          <p:cNvPr id="341" name="Google Shape;341;p37"/>
          <p:cNvSpPr/>
          <p:nvPr/>
        </p:nvSpPr>
        <p:spPr>
          <a:xfrm>
            <a:off x="5250656" y="3022811"/>
            <a:ext cx="34071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Maintaining compliance-grade logs of what was accessed and what was derived.</a:t>
            </a:r>
            <a:endParaRPr b="0" i="0" sz="1134"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8"/>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a:off x="435769" y="272355"/>
            <a:ext cx="34791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1902" u="none" cap="none" strike="noStrike">
                <a:solidFill>
                  <a:srgbClr val="1A1A1A"/>
                </a:solidFill>
                <a:latin typeface="Calibri"/>
                <a:ea typeface="Calibri"/>
                <a:cs typeface="Calibri"/>
                <a:sym typeface="Calibri"/>
              </a:rPr>
              <a:t>Domain-Specific </a:t>
            </a:r>
            <a:r>
              <a:rPr b="1" lang="en" sz="1902">
                <a:solidFill>
                  <a:srgbClr val="1A1A1A"/>
                </a:solidFill>
                <a:latin typeface="Calibri"/>
                <a:ea typeface="Calibri"/>
                <a:cs typeface="Calibri"/>
                <a:sym typeface="Calibri"/>
              </a:rPr>
              <a:t>Moltbooks</a:t>
            </a:r>
            <a:endParaRPr b="0" i="0" sz="1902" u="none" cap="none" strike="noStrike">
              <a:solidFill>
                <a:schemeClr val="dk1"/>
              </a:solidFill>
              <a:latin typeface="Calibri"/>
              <a:ea typeface="Calibri"/>
              <a:cs typeface="Calibri"/>
              <a:sym typeface="Calibri"/>
            </a:endParaRPr>
          </a:p>
        </p:txBody>
      </p:sp>
      <p:sp>
        <p:nvSpPr>
          <p:cNvPr id="349" name="Google Shape;349;p38"/>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From Protocols to Recipes</a:t>
            </a:r>
            <a:endParaRPr b="0" i="0" sz="1390" u="none" cap="none" strike="noStrike">
              <a:solidFill>
                <a:schemeClr val="dk1"/>
              </a:solidFill>
              <a:latin typeface="Calibri"/>
              <a:ea typeface="Calibri"/>
              <a:cs typeface="Calibri"/>
              <a:sym typeface="Calibri"/>
            </a:endParaRPr>
          </a:p>
        </p:txBody>
      </p:sp>
      <p:sp>
        <p:nvSpPr>
          <p:cNvPr id="350" name="Google Shape;350;p38"/>
          <p:cNvSpPr/>
          <p:nvPr/>
        </p:nvSpPr>
        <p:spPr>
          <a:xfrm>
            <a:off x="435769" y="1514475"/>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lang="en" sz="1242">
                <a:solidFill>
                  <a:srgbClr val="2D3436"/>
                </a:solidFill>
                <a:latin typeface="Calibri"/>
                <a:ea typeface="Calibri"/>
                <a:cs typeface="Calibri"/>
                <a:sym typeface="Calibri"/>
              </a:rPr>
              <a:t>C</a:t>
            </a:r>
            <a:r>
              <a:rPr b="0" i="0" lang="en" sz="1242" u="none" cap="none" strike="noStrike">
                <a:solidFill>
                  <a:srgbClr val="2D3436"/>
                </a:solidFill>
                <a:latin typeface="Calibri"/>
                <a:ea typeface="Calibri"/>
                <a:cs typeface="Calibri"/>
                <a:sym typeface="Calibri"/>
              </a:rPr>
              <a:t>urated bundles of agents, tools,</a:t>
            </a:r>
            <a:r>
              <a:rPr lang="en" sz="1242">
                <a:solidFill>
                  <a:srgbClr val="2D3436"/>
                </a:solidFill>
                <a:latin typeface="Calibri"/>
                <a:ea typeface="Calibri"/>
                <a:cs typeface="Calibri"/>
                <a:sym typeface="Calibri"/>
              </a:rPr>
              <a:t> </a:t>
            </a:r>
            <a:r>
              <a:rPr b="0" i="0" lang="en" sz="1242" u="none" cap="none" strike="noStrike">
                <a:solidFill>
                  <a:srgbClr val="2D3436"/>
                </a:solidFill>
                <a:latin typeface="Calibri"/>
                <a:ea typeface="Calibri"/>
                <a:cs typeface="Calibri"/>
                <a:sym typeface="Calibri"/>
              </a:rPr>
              <a:t>policies and interaction mechanisms tailored for specific communities like finance, HR, or research labs.</a:t>
            </a:r>
            <a:endParaRPr b="0" i="0" sz="1242" u="none" cap="none" strike="noStrike">
              <a:solidFill>
                <a:schemeClr val="dk1"/>
              </a:solidFill>
              <a:latin typeface="Calibri"/>
              <a:ea typeface="Calibri"/>
              <a:cs typeface="Calibri"/>
              <a:sym typeface="Calibri"/>
            </a:endParaRPr>
          </a:p>
        </p:txBody>
      </p:sp>
      <p:sp>
        <p:nvSpPr>
          <p:cNvPr id="351" name="Google Shape;351;p38"/>
          <p:cNvSpPr/>
          <p:nvPr/>
        </p:nvSpPr>
        <p:spPr>
          <a:xfrm>
            <a:off x="435769" y="2849749"/>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185" u="none" cap="none" strike="noStrike">
                <a:solidFill>
                  <a:srgbClr val="2D3436"/>
                </a:solidFill>
                <a:latin typeface="Calibri"/>
                <a:ea typeface="Calibri"/>
                <a:cs typeface="Calibri"/>
                <a:sym typeface="Calibri"/>
              </a:rPr>
              <a:t>Significance:</a:t>
            </a:r>
            <a:r>
              <a:rPr b="0" i="0" lang="en" sz="1242" u="none" cap="none" strike="noStrike">
                <a:solidFill>
                  <a:srgbClr val="2D3436"/>
                </a:solidFill>
                <a:latin typeface="Calibri"/>
                <a:ea typeface="Calibri"/>
                <a:cs typeface="Calibri"/>
                <a:sym typeface="Calibri"/>
              </a:rPr>
              <a:t> </a:t>
            </a:r>
            <a:r>
              <a:rPr lang="en" sz="1242">
                <a:solidFill>
                  <a:srgbClr val="2D3436"/>
                </a:solidFill>
                <a:latin typeface="Calibri"/>
                <a:ea typeface="Calibri"/>
                <a:cs typeface="Calibri"/>
                <a:sym typeface="Calibri"/>
              </a:rPr>
              <a:t>Such ‘bulletin boards’ for domain specific agents will allow exchange of domain specific intelligence while maintaining compliance.</a:t>
            </a:r>
            <a:endParaRPr b="0" i="0" sz="1185" u="none" cap="none" strike="noStrike">
              <a:solidFill>
                <a:schemeClr val="dk1"/>
              </a:solidFill>
              <a:latin typeface="Calibri"/>
              <a:ea typeface="Calibri"/>
              <a:cs typeface="Calibri"/>
              <a:sym typeface="Calibri"/>
            </a:endParaRPr>
          </a:p>
        </p:txBody>
      </p:sp>
      <p:sp>
        <p:nvSpPr>
          <p:cNvPr id="352" name="Google Shape;352;p38"/>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Critical Research Problems</a:t>
            </a:r>
            <a:endParaRPr b="0" i="0" sz="1390" u="none" cap="none" strike="noStrike">
              <a:solidFill>
                <a:schemeClr val="dk1"/>
              </a:solidFill>
              <a:latin typeface="Calibri"/>
              <a:ea typeface="Calibri"/>
              <a:cs typeface="Calibri"/>
              <a:sym typeface="Calibri"/>
            </a:endParaRPr>
          </a:p>
        </p:txBody>
      </p:sp>
      <p:sp>
        <p:nvSpPr>
          <p:cNvPr id="353" name="Google Shape;353;p38"/>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54" name="Google Shape;354;p38"/>
          <p:cNvSpPr/>
          <p:nvPr/>
        </p:nvSpPr>
        <p:spPr>
          <a:xfrm>
            <a:off x="5250656" y="1514475"/>
            <a:ext cx="12333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Packaging Standards:</a:t>
            </a:r>
            <a:endParaRPr b="0" i="0" sz="1084" u="none" cap="none" strike="noStrike">
              <a:solidFill>
                <a:schemeClr val="dk1"/>
              </a:solidFill>
              <a:latin typeface="Calibri"/>
              <a:ea typeface="Calibri"/>
              <a:cs typeface="Calibri"/>
              <a:sym typeface="Calibri"/>
            </a:endParaRPr>
          </a:p>
        </p:txBody>
      </p:sp>
      <p:sp>
        <p:nvSpPr>
          <p:cNvPr id="355" name="Google Shape;355;p38"/>
          <p:cNvSpPr/>
          <p:nvPr/>
        </p:nvSpPr>
        <p:spPr>
          <a:xfrm>
            <a:off x="5250656" y="1759351"/>
            <a:ext cx="29286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Defining manifests that bundle identities, capability proofs, and evaluation suites.</a:t>
            </a:r>
            <a:endParaRPr b="0" i="0" sz="1134" u="none" cap="none" strike="noStrike">
              <a:solidFill>
                <a:schemeClr val="dk1"/>
              </a:solidFill>
              <a:latin typeface="Calibri"/>
              <a:ea typeface="Calibri"/>
              <a:cs typeface="Calibri"/>
              <a:sym typeface="Calibri"/>
            </a:endParaRPr>
          </a:p>
        </p:txBody>
      </p:sp>
      <p:sp>
        <p:nvSpPr>
          <p:cNvPr id="356" name="Google Shape;356;p38"/>
          <p:cNvSpPr/>
          <p:nvPr/>
        </p:nvSpPr>
        <p:spPr>
          <a:xfrm>
            <a:off x="5072063" y="2214250"/>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57" name="Google Shape;357;p38"/>
          <p:cNvSpPr/>
          <p:nvPr/>
        </p:nvSpPr>
        <p:spPr>
          <a:xfrm>
            <a:off x="5250647" y="2214240"/>
            <a:ext cx="20088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Federated Governance:</a:t>
            </a:r>
            <a:endParaRPr b="0" i="0" sz="1084" u="none" cap="none" strike="noStrike">
              <a:solidFill>
                <a:schemeClr val="dk1"/>
              </a:solidFill>
              <a:latin typeface="Calibri"/>
              <a:ea typeface="Calibri"/>
              <a:cs typeface="Calibri"/>
              <a:sym typeface="Calibri"/>
            </a:endParaRPr>
          </a:p>
        </p:txBody>
      </p:sp>
      <p:sp>
        <p:nvSpPr>
          <p:cNvPr id="358" name="Google Shape;358;p38"/>
          <p:cNvSpPr/>
          <p:nvPr/>
        </p:nvSpPr>
        <p:spPr>
          <a:xfrm>
            <a:off x="5250656" y="2426944"/>
            <a:ext cx="33486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Enabling community-run certification to prevent monopoly gatekeeping.</a:t>
            </a:r>
            <a:endParaRPr b="0" i="0" sz="1134" u="none" cap="none" strike="noStrike">
              <a:solidFill>
                <a:schemeClr val="dk1"/>
              </a:solidFill>
              <a:latin typeface="Calibri"/>
              <a:ea typeface="Calibri"/>
              <a:cs typeface="Calibri"/>
              <a:sym typeface="Calibri"/>
            </a:endParaRPr>
          </a:p>
        </p:txBody>
      </p:sp>
      <p:sp>
        <p:nvSpPr>
          <p:cNvPr id="359" name="Google Shape;359;p38"/>
          <p:cNvSpPr/>
          <p:nvPr/>
        </p:nvSpPr>
        <p:spPr>
          <a:xfrm>
            <a:off x="5072063" y="2891092"/>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60" name="Google Shape;360;p38"/>
          <p:cNvSpPr/>
          <p:nvPr/>
        </p:nvSpPr>
        <p:spPr>
          <a:xfrm>
            <a:off x="5250656" y="2891092"/>
            <a:ext cx="935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Robust Ranking:</a:t>
            </a:r>
            <a:endParaRPr b="0" i="0" sz="1084" u="none" cap="none" strike="noStrike">
              <a:solidFill>
                <a:schemeClr val="dk1"/>
              </a:solidFill>
              <a:latin typeface="Calibri"/>
              <a:ea typeface="Calibri"/>
              <a:cs typeface="Calibri"/>
              <a:sym typeface="Calibri"/>
            </a:endParaRPr>
          </a:p>
        </p:txBody>
      </p:sp>
      <p:sp>
        <p:nvSpPr>
          <p:cNvPr id="361" name="Google Shape;361;p38"/>
          <p:cNvSpPr/>
          <p:nvPr/>
        </p:nvSpPr>
        <p:spPr>
          <a:xfrm>
            <a:off x="5250656" y="3066796"/>
            <a:ext cx="31137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Creating discovery mechanisms that are resistant to manipulation and reflect "fit-for-purpose."</a:t>
            </a:r>
            <a:endParaRPr b="0" i="0" sz="1134"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9"/>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9"/>
          <p:cNvSpPr/>
          <p:nvPr/>
        </p:nvSpPr>
        <p:spPr>
          <a:xfrm>
            <a:off x="435777" y="272350"/>
            <a:ext cx="59595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1902" u="none" cap="none" strike="noStrike">
                <a:solidFill>
                  <a:srgbClr val="1A1A1A"/>
                </a:solidFill>
                <a:latin typeface="Calibri"/>
                <a:ea typeface="Calibri"/>
                <a:cs typeface="Calibri"/>
                <a:sym typeface="Calibri"/>
              </a:rPr>
              <a:t>Age</a:t>
            </a:r>
            <a:r>
              <a:rPr b="1" lang="en" sz="1902">
                <a:solidFill>
                  <a:srgbClr val="1A1A1A"/>
                </a:solidFill>
                <a:latin typeface="Calibri"/>
                <a:ea typeface="Calibri"/>
                <a:cs typeface="Calibri"/>
                <a:sym typeface="Calibri"/>
              </a:rPr>
              <a:t>nt Teaming</a:t>
            </a:r>
            <a:endParaRPr b="0" i="0" sz="1902" u="none" cap="none" strike="noStrike">
              <a:solidFill>
                <a:schemeClr val="dk1"/>
              </a:solidFill>
              <a:latin typeface="Calibri"/>
              <a:ea typeface="Calibri"/>
              <a:cs typeface="Calibri"/>
              <a:sym typeface="Calibri"/>
            </a:endParaRPr>
          </a:p>
        </p:txBody>
      </p:sp>
      <p:sp>
        <p:nvSpPr>
          <p:cNvPr id="369" name="Google Shape;369;p39"/>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Interoperability as a Coordination Layer</a:t>
            </a:r>
            <a:endParaRPr b="0" i="0" sz="1390" u="none" cap="none" strike="noStrike">
              <a:solidFill>
                <a:schemeClr val="dk1"/>
              </a:solidFill>
              <a:latin typeface="Calibri"/>
              <a:ea typeface="Calibri"/>
              <a:cs typeface="Calibri"/>
              <a:sym typeface="Calibri"/>
            </a:endParaRPr>
          </a:p>
        </p:txBody>
      </p:sp>
      <p:sp>
        <p:nvSpPr>
          <p:cNvPr id="370" name="Google Shape;370;p39"/>
          <p:cNvSpPr/>
          <p:nvPr/>
        </p:nvSpPr>
        <p:spPr>
          <a:xfrm>
            <a:off x="435769" y="1514475"/>
            <a:ext cx="3921900" cy="8229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242" u="none" cap="none" strike="noStrike">
                <a:solidFill>
                  <a:srgbClr val="2D3436"/>
                </a:solidFill>
                <a:latin typeface="Calibri"/>
                <a:ea typeface="Calibri"/>
                <a:cs typeface="Calibri"/>
                <a:sym typeface="Calibri"/>
              </a:rPr>
              <a:t>Real-world deployments involve multi-agent, multi-vendor, and multi-protocol environments. An orchestration platform must allow agents to form teams and negotiate contracts regardless of their underlying stack.</a:t>
            </a:r>
            <a:endParaRPr b="0" i="0" sz="1242" u="none" cap="none" strike="noStrike">
              <a:solidFill>
                <a:schemeClr val="dk1"/>
              </a:solidFill>
              <a:latin typeface="Calibri"/>
              <a:ea typeface="Calibri"/>
              <a:cs typeface="Calibri"/>
              <a:sym typeface="Calibri"/>
            </a:endParaRPr>
          </a:p>
        </p:txBody>
      </p:sp>
      <p:sp>
        <p:nvSpPr>
          <p:cNvPr id="371" name="Google Shape;371;p39"/>
          <p:cNvSpPr/>
          <p:nvPr/>
        </p:nvSpPr>
        <p:spPr>
          <a:xfrm>
            <a:off x="435769" y="2884571"/>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185" u="none" cap="none" strike="noStrike">
                <a:solidFill>
                  <a:srgbClr val="2D3436"/>
                </a:solidFill>
                <a:latin typeface="Calibri"/>
                <a:ea typeface="Calibri"/>
                <a:cs typeface="Calibri"/>
                <a:sym typeface="Calibri"/>
              </a:rPr>
              <a:t>Challenge:</a:t>
            </a:r>
            <a:r>
              <a:rPr b="0" i="0" lang="en" sz="1242" u="none" cap="none" strike="noStrike">
                <a:solidFill>
                  <a:srgbClr val="2D3436"/>
                </a:solidFill>
                <a:latin typeface="Calibri"/>
                <a:ea typeface="Calibri"/>
                <a:cs typeface="Calibri"/>
                <a:sym typeface="Calibri"/>
              </a:rPr>
              <a:t> Moving beyond "yet another agent framework" to a</a:t>
            </a:r>
            <a:r>
              <a:rPr lang="en" sz="1242">
                <a:solidFill>
                  <a:srgbClr val="2D3436"/>
                </a:solidFill>
                <a:latin typeface="Calibri"/>
                <a:ea typeface="Calibri"/>
                <a:cs typeface="Calibri"/>
                <a:sym typeface="Calibri"/>
              </a:rPr>
              <a:t>n</a:t>
            </a:r>
            <a:r>
              <a:rPr b="0" i="0" lang="en" sz="1242" u="none" cap="none" strike="noStrike">
                <a:solidFill>
                  <a:srgbClr val="2D3436"/>
                </a:solidFill>
                <a:latin typeface="Calibri"/>
                <a:ea typeface="Calibri"/>
                <a:cs typeface="Calibri"/>
                <a:sym typeface="Calibri"/>
              </a:rPr>
              <a:t>interoperability layer that handles heterogeneous coordination.</a:t>
            </a:r>
            <a:endParaRPr b="0" i="0" sz="1185" u="none" cap="none" strike="noStrike">
              <a:solidFill>
                <a:schemeClr val="dk1"/>
              </a:solidFill>
              <a:latin typeface="Calibri"/>
              <a:ea typeface="Calibri"/>
              <a:cs typeface="Calibri"/>
              <a:sym typeface="Calibri"/>
            </a:endParaRPr>
          </a:p>
        </p:txBody>
      </p:sp>
      <p:sp>
        <p:nvSpPr>
          <p:cNvPr id="372" name="Google Shape;372;p39"/>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Critical Research Problems</a:t>
            </a:r>
            <a:endParaRPr b="0" i="0" sz="1390" u="none" cap="none" strike="noStrike">
              <a:solidFill>
                <a:schemeClr val="dk1"/>
              </a:solidFill>
              <a:latin typeface="Calibri"/>
              <a:ea typeface="Calibri"/>
              <a:cs typeface="Calibri"/>
              <a:sym typeface="Calibri"/>
            </a:endParaRPr>
          </a:p>
        </p:txBody>
      </p:sp>
      <p:sp>
        <p:nvSpPr>
          <p:cNvPr id="373" name="Google Shape;373;p39"/>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74" name="Google Shape;374;p39"/>
          <p:cNvSpPr/>
          <p:nvPr/>
        </p:nvSpPr>
        <p:spPr>
          <a:xfrm>
            <a:off x="5250647" y="1514475"/>
            <a:ext cx="23970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Team Formation Protocols:</a:t>
            </a:r>
            <a:endParaRPr b="0" i="0" sz="1084" u="none" cap="none" strike="noStrike">
              <a:solidFill>
                <a:schemeClr val="dk1"/>
              </a:solidFill>
              <a:latin typeface="Calibri"/>
              <a:ea typeface="Calibri"/>
              <a:cs typeface="Calibri"/>
              <a:sym typeface="Calibri"/>
            </a:endParaRPr>
          </a:p>
        </p:txBody>
      </p:sp>
      <p:sp>
        <p:nvSpPr>
          <p:cNvPr id="375" name="Google Shape;375;p39"/>
          <p:cNvSpPr/>
          <p:nvPr/>
        </p:nvSpPr>
        <p:spPr>
          <a:xfrm>
            <a:off x="5250656" y="1736417"/>
            <a:ext cx="3418800" cy="4662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How agents discover complementary capabilities and assign roles dynamically across frameworks.</a:t>
            </a:r>
            <a:endParaRPr b="0" i="0" sz="1134" u="none" cap="none" strike="noStrike">
              <a:solidFill>
                <a:schemeClr val="dk1"/>
              </a:solidFill>
              <a:latin typeface="Calibri"/>
              <a:ea typeface="Calibri"/>
              <a:cs typeface="Calibri"/>
              <a:sym typeface="Calibri"/>
            </a:endParaRPr>
          </a:p>
        </p:txBody>
      </p:sp>
      <p:sp>
        <p:nvSpPr>
          <p:cNvPr id="376" name="Google Shape;376;p39"/>
          <p:cNvSpPr/>
          <p:nvPr/>
        </p:nvSpPr>
        <p:spPr>
          <a:xfrm>
            <a:off x="5072063" y="2309703"/>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77" name="Google Shape;377;p39"/>
          <p:cNvSpPr/>
          <p:nvPr/>
        </p:nvSpPr>
        <p:spPr>
          <a:xfrm>
            <a:off x="5250647" y="2309700"/>
            <a:ext cx="17868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Portable Task State:</a:t>
            </a:r>
            <a:endParaRPr b="0" i="0" sz="1084" u="none" cap="none" strike="noStrike">
              <a:solidFill>
                <a:schemeClr val="dk1"/>
              </a:solidFill>
              <a:latin typeface="Calibri"/>
              <a:ea typeface="Calibri"/>
              <a:cs typeface="Calibri"/>
              <a:sym typeface="Calibri"/>
            </a:endParaRPr>
          </a:p>
        </p:txBody>
      </p:sp>
      <p:sp>
        <p:nvSpPr>
          <p:cNvPr id="378" name="Google Shape;378;p39"/>
          <p:cNvSpPr/>
          <p:nvPr/>
        </p:nvSpPr>
        <p:spPr>
          <a:xfrm>
            <a:off x="5250656" y="2494654"/>
            <a:ext cx="31731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Maintaining shared memory and task context without vendor lock-in or proprietary silos.</a:t>
            </a:r>
            <a:endParaRPr b="0" i="0" sz="1134" u="none" cap="none" strike="noStrike">
              <a:solidFill>
                <a:schemeClr val="dk1"/>
              </a:solidFill>
              <a:latin typeface="Calibri"/>
              <a:ea typeface="Calibri"/>
              <a:cs typeface="Calibri"/>
              <a:sym typeface="Calibri"/>
            </a:endParaRPr>
          </a:p>
        </p:txBody>
      </p:sp>
      <p:sp>
        <p:nvSpPr>
          <p:cNvPr id="379" name="Google Shape;379;p39"/>
          <p:cNvSpPr/>
          <p:nvPr/>
        </p:nvSpPr>
        <p:spPr>
          <a:xfrm>
            <a:off x="5072063" y="3023534"/>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80" name="Google Shape;380;p39"/>
          <p:cNvSpPr/>
          <p:nvPr/>
        </p:nvSpPr>
        <p:spPr>
          <a:xfrm>
            <a:off x="5250647" y="3023525"/>
            <a:ext cx="21198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Observability by Default:</a:t>
            </a:r>
            <a:endParaRPr b="0" i="0" sz="1084" u="none" cap="none" strike="noStrike">
              <a:solidFill>
                <a:schemeClr val="dk1"/>
              </a:solidFill>
              <a:latin typeface="Calibri"/>
              <a:ea typeface="Calibri"/>
              <a:cs typeface="Calibri"/>
              <a:sym typeface="Calibri"/>
            </a:endParaRPr>
          </a:p>
        </p:txBody>
      </p:sp>
      <p:sp>
        <p:nvSpPr>
          <p:cNvPr id="381" name="Google Shape;381;p39"/>
          <p:cNvSpPr/>
          <p:nvPr/>
        </p:nvSpPr>
        <p:spPr>
          <a:xfrm>
            <a:off x="5250656" y="3226981"/>
            <a:ext cx="32346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Standardizing telemetry so multi-agent workflows can be debugged and governed at scale.</a:t>
            </a:r>
            <a:endParaRPr b="0" i="0" sz="1134"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0"/>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0"/>
          <p:cNvSpPr/>
          <p:nvPr/>
        </p:nvSpPr>
        <p:spPr>
          <a:xfrm>
            <a:off x="435769" y="272355"/>
            <a:ext cx="47604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1902" u="none" cap="none" strike="noStrike">
                <a:solidFill>
                  <a:srgbClr val="1A1A1A"/>
                </a:solidFill>
                <a:latin typeface="Calibri"/>
                <a:ea typeface="Calibri"/>
                <a:cs typeface="Calibri"/>
                <a:sym typeface="Calibri"/>
              </a:rPr>
              <a:t>Paper-Agents &amp; Knowledge Networks</a:t>
            </a:r>
            <a:endParaRPr b="0" i="0" sz="1902" u="none" cap="none" strike="noStrike">
              <a:solidFill>
                <a:schemeClr val="dk1"/>
              </a:solidFill>
              <a:latin typeface="Calibri"/>
              <a:ea typeface="Calibri"/>
              <a:cs typeface="Calibri"/>
              <a:sym typeface="Calibri"/>
            </a:endParaRPr>
          </a:p>
        </p:txBody>
      </p:sp>
      <p:sp>
        <p:nvSpPr>
          <p:cNvPr id="389" name="Google Shape;389;p40"/>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Synthesis at Scale</a:t>
            </a:r>
            <a:endParaRPr b="0" i="0" sz="1390" u="none" cap="none" strike="noStrike">
              <a:solidFill>
                <a:schemeClr val="dk1"/>
              </a:solidFill>
              <a:latin typeface="Calibri"/>
              <a:ea typeface="Calibri"/>
              <a:cs typeface="Calibri"/>
              <a:sym typeface="Calibri"/>
            </a:endParaRPr>
          </a:p>
        </p:txBody>
      </p:sp>
      <p:sp>
        <p:nvSpPr>
          <p:cNvPr id="390" name="Google Shape;390;p40"/>
          <p:cNvSpPr/>
          <p:nvPr/>
        </p:nvSpPr>
        <p:spPr>
          <a:xfrm>
            <a:off x="435769" y="1514475"/>
            <a:ext cx="3921900" cy="8229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242" u="none" cap="none" strike="noStrike">
                <a:solidFill>
                  <a:srgbClr val="2D3436"/>
                </a:solidFill>
                <a:latin typeface="Calibri"/>
                <a:ea typeface="Calibri"/>
                <a:cs typeface="Calibri"/>
                <a:sym typeface="Calibri"/>
              </a:rPr>
              <a:t>With the explosion of research output, we need "Paper-Agents" that ship with every publication. These agents can answer questions, expose claims, and negotiate conflicts with other research agents.</a:t>
            </a:r>
            <a:endParaRPr b="0" i="0" sz="1242" u="none" cap="none" strike="noStrike">
              <a:solidFill>
                <a:schemeClr val="dk1"/>
              </a:solidFill>
              <a:latin typeface="Calibri"/>
              <a:ea typeface="Calibri"/>
              <a:cs typeface="Calibri"/>
              <a:sym typeface="Calibri"/>
            </a:endParaRPr>
          </a:p>
        </p:txBody>
      </p:sp>
      <p:sp>
        <p:nvSpPr>
          <p:cNvPr id="391" name="Google Shape;391;p40"/>
          <p:cNvSpPr/>
          <p:nvPr/>
        </p:nvSpPr>
        <p:spPr>
          <a:xfrm>
            <a:off x="435769" y="3008858"/>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185" u="none" cap="none" strike="noStrike">
                <a:solidFill>
                  <a:srgbClr val="2D3436"/>
                </a:solidFill>
                <a:latin typeface="Calibri"/>
                <a:ea typeface="Calibri"/>
                <a:cs typeface="Calibri"/>
                <a:sym typeface="Calibri"/>
              </a:rPr>
              <a:t>Vision:</a:t>
            </a:r>
            <a:r>
              <a:rPr b="0" i="0" lang="en" sz="1242" u="none" cap="none" strike="noStrike">
                <a:solidFill>
                  <a:srgbClr val="2D3436"/>
                </a:solidFill>
                <a:latin typeface="Calibri"/>
                <a:ea typeface="Calibri"/>
                <a:cs typeface="Calibri"/>
                <a:sym typeface="Calibri"/>
              </a:rPr>
              <a:t> Transforming static PDF repositories into an active, queryable knowledge network for automated synthesis and discovery. Allowing the querying of interdisciplinary knowledge by asking a team of agents.</a:t>
            </a:r>
            <a:endParaRPr b="0" i="0" sz="1185" u="none" cap="none" strike="noStrike">
              <a:solidFill>
                <a:schemeClr val="dk1"/>
              </a:solidFill>
              <a:latin typeface="Calibri"/>
              <a:ea typeface="Calibri"/>
              <a:cs typeface="Calibri"/>
              <a:sym typeface="Calibri"/>
            </a:endParaRPr>
          </a:p>
        </p:txBody>
      </p:sp>
      <p:sp>
        <p:nvSpPr>
          <p:cNvPr id="392" name="Google Shape;392;p40"/>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390" u="none" cap="none" strike="noStrike">
                <a:solidFill>
                  <a:srgbClr val="2980B9"/>
                </a:solidFill>
                <a:latin typeface="Calibri"/>
                <a:ea typeface="Calibri"/>
                <a:cs typeface="Calibri"/>
                <a:sym typeface="Calibri"/>
              </a:rPr>
              <a:t>Critical Research Problems</a:t>
            </a:r>
            <a:endParaRPr b="0" i="0" sz="1390" u="none" cap="none" strike="noStrike">
              <a:solidFill>
                <a:schemeClr val="dk1"/>
              </a:solidFill>
              <a:latin typeface="Calibri"/>
              <a:ea typeface="Calibri"/>
              <a:cs typeface="Calibri"/>
              <a:sym typeface="Calibri"/>
            </a:endParaRPr>
          </a:p>
        </p:txBody>
      </p:sp>
      <p:sp>
        <p:nvSpPr>
          <p:cNvPr id="393" name="Google Shape;393;p40"/>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94" name="Google Shape;394;p40"/>
          <p:cNvSpPr/>
          <p:nvPr/>
        </p:nvSpPr>
        <p:spPr>
          <a:xfrm>
            <a:off x="5250646" y="1514475"/>
            <a:ext cx="23970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lang="en" sz="1084">
                <a:solidFill>
                  <a:srgbClr val="2D3436"/>
                </a:solidFill>
                <a:latin typeface="Calibri"/>
                <a:ea typeface="Calibri"/>
                <a:cs typeface="Calibri"/>
                <a:sym typeface="Calibri"/>
              </a:rPr>
              <a:t>Interdisciplinary teaming:</a:t>
            </a:r>
            <a:endParaRPr b="0" i="0" sz="1084" u="none" cap="none" strike="noStrike">
              <a:solidFill>
                <a:schemeClr val="dk1"/>
              </a:solidFill>
              <a:latin typeface="Calibri"/>
              <a:ea typeface="Calibri"/>
              <a:cs typeface="Calibri"/>
              <a:sym typeface="Calibri"/>
            </a:endParaRPr>
          </a:p>
        </p:txBody>
      </p:sp>
      <p:sp>
        <p:nvSpPr>
          <p:cNvPr id="395" name="Google Shape;395;p40"/>
          <p:cNvSpPr/>
          <p:nvPr/>
        </p:nvSpPr>
        <p:spPr>
          <a:xfrm>
            <a:off x="5250656" y="1708674"/>
            <a:ext cx="31623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lang="en" sz="1134">
                <a:solidFill>
                  <a:srgbClr val="2D3436"/>
                </a:solidFill>
                <a:latin typeface="Calibri"/>
                <a:ea typeface="Calibri"/>
                <a:cs typeface="Calibri"/>
                <a:sym typeface="Calibri"/>
              </a:rPr>
              <a:t>Having agents work across skill boundaries as defined by the paper contributions</a:t>
            </a:r>
            <a:endParaRPr b="0" i="0" sz="1134" u="none" cap="none" strike="noStrike">
              <a:solidFill>
                <a:schemeClr val="dk1"/>
              </a:solidFill>
              <a:latin typeface="Calibri"/>
              <a:ea typeface="Calibri"/>
              <a:cs typeface="Calibri"/>
              <a:sym typeface="Calibri"/>
            </a:endParaRPr>
          </a:p>
        </p:txBody>
      </p:sp>
      <p:sp>
        <p:nvSpPr>
          <p:cNvPr id="396" name="Google Shape;396;p40"/>
          <p:cNvSpPr/>
          <p:nvPr/>
        </p:nvSpPr>
        <p:spPr>
          <a:xfrm>
            <a:off x="5072063" y="2219059"/>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397" name="Google Shape;397;p40"/>
          <p:cNvSpPr/>
          <p:nvPr/>
        </p:nvSpPr>
        <p:spPr>
          <a:xfrm>
            <a:off x="5250647" y="2219050"/>
            <a:ext cx="1916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Evidence Negotiation:</a:t>
            </a:r>
            <a:endParaRPr b="0" i="0" sz="1084" u="none" cap="none" strike="noStrike">
              <a:solidFill>
                <a:schemeClr val="dk1"/>
              </a:solidFill>
              <a:latin typeface="Calibri"/>
              <a:ea typeface="Calibri"/>
              <a:cs typeface="Calibri"/>
              <a:sym typeface="Calibri"/>
            </a:endParaRPr>
          </a:p>
        </p:txBody>
      </p:sp>
      <p:sp>
        <p:nvSpPr>
          <p:cNvPr id="398" name="Google Shape;398;p40"/>
          <p:cNvSpPr/>
          <p:nvPr/>
        </p:nvSpPr>
        <p:spPr>
          <a:xfrm>
            <a:off x="5250656" y="2413258"/>
            <a:ext cx="29223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Protocols for agents to resolve conflicting claims through uncertainty modeling.</a:t>
            </a:r>
            <a:endParaRPr b="0" i="0" sz="1134" u="none" cap="none" strike="noStrike">
              <a:solidFill>
                <a:schemeClr val="dk1"/>
              </a:solidFill>
              <a:latin typeface="Calibri"/>
              <a:ea typeface="Calibri"/>
              <a:cs typeface="Calibri"/>
              <a:sym typeface="Calibri"/>
            </a:endParaRPr>
          </a:p>
        </p:txBody>
      </p:sp>
      <p:sp>
        <p:nvSpPr>
          <p:cNvPr id="399" name="Google Shape;399;p40"/>
          <p:cNvSpPr/>
          <p:nvPr/>
        </p:nvSpPr>
        <p:spPr>
          <a:xfrm>
            <a:off x="5072063" y="2932891"/>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084" u="none" cap="none" strike="noStrike">
                <a:solidFill>
                  <a:srgbClr val="2980B9"/>
                </a:solidFill>
                <a:latin typeface="Calibri"/>
                <a:ea typeface="Calibri"/>
                <a:cs typeface="Calibri"/>
                <a:sym typeface="Calibri"/>
              </a:rPr>
              <a:t>•</a:t>
            </a:r>
            <a:endParaRPr b="0" i="0" sz="1084" u="none" cap="none" strike="noStrike">
              <a:solidFill>
                <a:schemeClr val="dk1"/>
              </a:solidFill>
              <a:latin typeface="Calibri"/>
              <a:ea typeface="Calibri"/>
              <a:cs typeface="Calibri"/>
              <a:sym typeface="Calibri"/>
            </a:endParaRPr>
          </a:p>
        </p:txBody>
      </p:sp>
      <p:sp>
        <p:nvSpPr>
          <p:cNvPr id="400" name="Google Shape;400;p40"/>
          <p:cNvSpPr/>
          <p:nvPr/>
        </p:nvSpPr>
        <p:spPr>
          <a:xfrm>
            <a:off x="5250648" y="2932898"/>
            <a:ext cx="1638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084" u="none" cap="none" strike="noStrike">
                <a:solidFill>
                  <a:srgbClr val="2D3436"/>
                </a:solidFill>
                <a:latin typeface="Calibri"/>
                <a:ea typeface="Calibri"/>
                <a:cs typeface="Calibri"/>
                <a:sym typeface="Calibri"/>
              </a:rPr>
              <a:t>Reproducibility Hooks:</a:t>
            </a:r>
            <a:endParaRPr b="0" i="0" sz="1084" u="none" cap="none" strike="noStrike">
              <a:solidFill>
                <a:schemeClr val="dk1"/>
              </a:solidFill>
              <a:latin typeface="Calibri"/>
              <a:ea typeface="Calibri"/>
              <a:cs typeface="Calibri"/>
              <a:sym typeface="Calibri"/>
            </a:endParaRPr>
          </a:p>
        </p:txBody>
      </p:sp>
      <p:sp>
        <p:nvSpPr>
          <p:cNvPr id="401" name="Google Shape;401;p40"/>
          <p:cNvSpPr/>
          <p:nvPr/>
        </p:nvSpPr>
        <p:spPr>
          <a:xfrm>
            <a:off x="5250656" y="3136338"/>
            <a:ext cx="32265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134" u="none" cap="none" strike="noStrike">
                <a:solidFill>
                  <a:srgbClr val="2D3436"/>
                </a:solidFill>
                <a:latin typeface="Calibri"/>
                <a:ea typeface="Calibri"/>
                <a:cs typeface="Calibri"/>
                <a:sym typeface="Calibri"/>
              </a:rPr>
              <a:t>Clean interfaces for agents to rerun experiments with verifiable outputs.</a:t>
            </a:r>
            <a:endParaRPr b="0" i="0" sz="1134"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1"/>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1"/>
          <p:cNvSpPr/>
          <p:nvPr/>
        </p:nvSpPr>
        <p:spPr>
          <a:xfrm>
            <a:off x="435769" y="272355"/>
            <a:ext cx="45153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2002" u="none" cap="none" strike="noStrike">
                <a:solidFill>
                  <a:srgbClr val="1A1A1A"/>
                </a:solidFill>
                <a:latin typeface="Calibri"/>
                <a:ea typeface="Calibri"/>
                <a:cs typeface="Calibri"/>
                <a:sym typeface="Calibri"/>
              </a:rPr>
              <a:t>Prediction Markets </a:t>
            </a:r>
            <a:r>
              <a:rPr b="1" lang="en" sz="2002">
                <a:solidFill>
                  <a:srgbClr val="1A1A1A"/>
                </a:solidFill>
                <a:latin typeface="Calibri"/>
                <a:ea typeface="Calibri"/>
                <a:cs typeface="Calibri"/>
                <a:sym typeface="Calibri"/>
              </a:rPr>
              <a:t>for</a:t>
            </a:r>
            <a:r>
              <a:rPr b="1" i="0" lang="en" sz="2002" u="none" cap="none" strike="noStrike">
                <a:solidFill>
                  <a:srgbClr val="1A1A1A"/>
                </a:solidFill>
                <a:latin typeface="Calibri"/>
                <a:ea typeface="Calibri"/>
                <a:cs typeface="Calibri"/>
                <a:sym typeface="Calibri"/>
              </a:rPr>
              <a:t> </a:t>
            </a:r>
            <a:r>
              <a:rPr b="1" lang="en" sz="2002">
                <a:solidFill>
                  <a:srgbClr val="1A1A1A"/>
                </a:solidFill>
                <a:latin typeface="Calibri"/>
                <a:ea typeface="Calibri"/>
                <a:cs typeface="Calibri"/>
                <a:sym typeface="Calibri"/>
              </a:rPr>
              <a:t>Agents</a:t>
            </a:r>
            <a:endParaRPr b="0" i="0" sz="2002" u="none" cap="none" strike="noStrike">
              <a:solidFill>
                <a:schemeClr val="dk1"/>
              </a:solidFill>
              <a:latin typeface="Calibri"/>
              <a:ea typeface="Calibri"/>
              <a:cs typeface="Calibri"/>
              <a:sym typeface="Calibri"/>
            </a:endParaRPr>
          </a:p>
        </p:txBody>
      </p:sp>
      <p:sp>
        <p:nvSpPr>
          <p:cNvPr id="409" name="Google Shape;409;p41"/>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Aggregating Beliefs into Signals</a:t>
            </a:r>
            <a:endParaRPr b="0" i="0" sz="1490" u="none" cap="none" strike="noStrike">
              <a:solidFill>
                <a:schemeClr val="dk1"/>
              </a:solidFill>
              <a:latin typeface="Calibri"/>
              <a:ea typeface="Calibri"/>
              <a:cs typeface="Calibri"/>
              <a:sym typeface="Calibri"/>
            </a:endParaRPr>
          </a:p>
        </p:txBody>
      </p:sp>
      <p:sp>
        <p:nvSpPr>
          <p:cNvPr id="410" name="Google Shape;410;p41"/>
          <p:cNvSpPr/>
          <p:nvPr/>
        </p:nvSpPr>
        <p:spPr>
          <a:xfrm>
            <a:off x="435769" y="1514475"/>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342" u="none" cap="none" strike="noStrike">
                <a:solidFill>
                  <a:srgbClr val="2D3436"/>
                </a:solidFill>
                <a:latin typeface="Calibri"/>
                <a:ea typeface="Calibri"/>
                <a:cs typeface="Calibri"/>
                <a:sym typeface="Calibri"/>
              </a:rPr>
              <a:t>Agents can </a:t>
            </a:r>
            <a:r>
              <a:rPr lang="en" sz="1342">
                <a:solidFill>
                  <a:srgbClr val="2D3436"/>
                </a:solidFill>
                <a:latin typeface="Calibri"/>
                <a:ea typeface="Calibri"/>
                <a:cs typeface="Calibri"/>
                <a:sym typeface="Calibri"/>
              </a:rPr>
              <a:t>participate in</a:t>
            </a:r>
            <a:r>
              <a:rPr b="0" i="0" lang="en" sz="1342" u="none" cap="none" strike="noStrike">
                <a:solidFill>
                  <a:srgbClr val="2D3436"/>
                </a:solidFill>
                <a:latin typeface="Calibri"/>
                <a:ea typeface="Calibri"/>
                <a:cs typeface="Calibri"/>
                <a:sym typeface="Calibri"/>
              </a:rPr>
              <a:t> prediction markets to forecast uncertain events and prioritize actions. These markets serve as a decentralized truth-discovery mechanism for the entire ecosystem.</a:t>
            </a:r>
            <a:endParaRPr b="0" i="0" sz="1342" u="none" cap="none" strike="noStrike">
              <a:solidFill>
                <a:schemeClr val="dk1"/>
              </a:solidFill>
              <a:latin typeface="Calibri"/>
              <a:ea typeface="Calibri"/>
              <a:cs typeface="Calibri"/>
              <a:sym typeface="Calibri"/>
            </a:endParaRPr>
          </a:p>
        </p:txBody>
      </p:sp>
      <p:sp>
        <p:nvSpPr>
          <p:cNvPr id="411" name="Google Shape;411;p41"/>
          <p:cNvSpPr/>
          <p:nvPr/>
        </p:nvSpPr>
        <p:spPr>
          <a:xfrm>
            <a:off x="435769" y="2947033"/>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285" u="none" cap="none" strike="noStrike">
                <a:solidFill>
                  <a:srgbClr val="2D3436"/>
                </a:solidFill>
                <a:latin typeface="Calibri"/>
                <a:ea typeface="Calibri"/>
                <a:cs typeface="Calibri"/>
                <a:sym typeface="Calibri"/>
              </a:rPr>
              <a:t>Governance Primitive:</a:t>
            </a:r>
            <a:r>
              <a:rPr b="0" i="0" lang="en" sz="1342" u="none" cap="none" strike="noStrike">
                <a:solidFill>
                  <a:srgbClr val="2D3436"/>
                </a:solidFill>
                <a:latin typeface="Calibri"/>
                <a:ea typeface="Calibri"/>
                <a:cs typeface="Calibri"/>
                <a:sym typeface="Calibri"/>
              </a:rPr>
              <a:t> Markets aggregate distributed information into a single price or probability signal, allowing agents to coordinate on "what is likely" or "what is risky."</a:t>
            </a:r>
            <a:endParaRPr b="0" i="0" sz="1285" u="none" cap="none" strike="noStrike">
              <a:solidFill>
                <a:schemeClr val="dk1"/>
              </a:solidFill>
              <a:latin typeface="Calibri"/>
              <a:ea typeface="Calibri"/>
              <a:cs typeface="Calibri"/>
              <a:sym typeface="Calibri"/>
            </a:endParaRPr>
          </a:p>
        </p:txBody>
      </p:sp>
      <p:sp>
        <p:nvSpPr>
          <p:cNvPr id="412" name="Google Shape;412;p41"/>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Critical Research Problems</a:t>
            </a:r>
            <a:endParaRPr b="0" i="0" sz="1490" u="none" cap="none" strike="noStrike">
              <a:solidFill>
                <a:schemeClr val="dk1"/>
              </a:solidFill>
              <a:latin typeface="Calibri"/>
              <a:ea typeface="Calibri"/>
              <a:cs typeface="Calibri"/>
              <a:sym typeface="Calibri"/>
            </a:endParaRPr>
          </a:p>
        </p:txBody>
      </p:sp>
      <p:sp>
        <p:nvSpPr>
          <p:cNvPr id="413" name="Google Shape;413;p41"/>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14" name="Google Shape;414;p41"/>
          <p:cNvSpPr/>
          <p:nvPr/>
        </p:nvSpPr>
        <p:spPr>
          <a:xfrm>
            <a:off x="5250644" y="1514475"/>
            <a:ext cx="19347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Sybil Resistance:</a:t>
            </a:r>
            <a:endParaRPr b="0" i="0" sz="1184" u="none" cap="none" strike="noStrike">
              <a:solidFill>
                <a:schemeClr val="dk1"/>
              </a:solidFill>
              <a:latin typeface="Calibri"/>
              <a:ea typeface="Calibri"/>
              <a:cs typeface="Calibri"/>
              <a:sym typeface="Calibri"/>
            </a:endParaRPr>
          </a:p>
        </p:txBody>
      </p:sp>
      <p:sp>
        <p:nvSpPr>
          <p:cNvPr id="415" name="Google Shape;415;p41"/>
          <p:cNvSpPr/>
          <p:nvPr/>
        </p:nvSpPr>
        <p:spPr>
          <a:xfrm>
            <a:off x="5250656" y="1717922"/>
            <a:ext cx="30501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Ensuring accountable agent identity to prevent market manipulation by bot swarms.</a:t>
            </a:r>
            <a:endParaRPr b="0" i="0" sz="1234" u="none" cap="none" strike="noStrike">
              <a:solidFill>
                <a:schemeClr val="dk1"/>
              </a:solidFill>
              <a:latin typeface="Calibri"/>
              <a:ea typeface="Calibri"/>
              <a:cs typeface="Calibri"/>
              <a:sym typeface="Calibri"/>
            </a:endParaRPr>
          </a:p>
        </p:txBody>
      </p:sp>
      <p:sp>
        <p:nvSpPr>
          <p:cNvPr id="416" name="Google Shape;416;p41"/>
          <p:cNvSpPr/>
          <p:nvPr/>
        </p:nvSpPr>
        <p:spPr>
          <a:xfrm>
            <a:off x="5072063" y="2256049"/>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17" name="Google Shape;417;p41"/>
          <p:cNvSpPr/>
          <p:nvPr/>
        </p:nvSpPr>
        <p:spPr>
          <a:xfrm>
            <a:off x="5250647" y="2256050"/>
            <a:ext cx="1648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Collusion Detection:</a:t>
            </a:r>
            <a:endParaRPr b="0" i="0" sz="1184" u="none" cap="none" strike="noStrike">
              <a:solidFill>
                <a:schemeClr val="dk1"/>
              </a:solidFill>
              <a:latin typeface="Calibri"/>
              <a:ea typeface="Calibri"/>
              <a:cs typeface="Calibri"/>
              <a:sym typeface="Calibri"/>
            </a:endParaRPr>
          </a:p>
        </p:txBody>
      </p:sp>
      <p:sp>
        <p:nvSpPr>
          <p:cNvPr id="418" name="Google Shape;418;p41"/>
          <p:cNvSpPr/>
          <p:nvPr/>
        </p:nvSpPr>
        <p:spPr>
          <a:xfrm>
            <a:off x="5250656" y="2477991"/>
            <a:ext cx="32313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Identifying coordinated attacks in low-liquidity agentic markets.</a:t>
            </a:r>
            <a:endParaRPr b="0" i="0" sz="1234" u="none" cap="none" strike="noStrike">
              <a:solidFill>
                <a:schemeClr val="dk1"/>
              </a:solidFill>
              <a:latin typeface="Calibri"/>
              <a:ea typeface="Calibri"/>
              <a:cs typeface="Calibri"/>
              <a:sym typeface="Calibri"/>
            </a:endParaRPr>
          </a:p>
        </p:txBody>
      </p:sp>
      <p:sp>
        <p:nvSpPr>
          <p:cNvPr id="419" name="Google Shape;419;p41"/>
          <p:cNvSpPr/>
          <p:nvPr/>
        </p:nvSpPr>
        <p:spPr>
          <a:xfrm>
            <a:off x="5072063" y="2997624"/>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20" name="Google Shape;420;p41"/>
          <p:cNvSpPr/>
          <p:nvPr/>
        </p:nvSpPr>
        <p:spPr>
          <a:xfrm>
            <a:off x="5250648" y="2997625"/>
            <a:ext cx="22584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Cross-Jurisdiction Settlement:</a:t>
            </a:r>
            <a:endParaRPr b="0" i="0" sz="1184" u="none" cap="none" strike="noStrike">
              <a:solidFill>
                <a:schemeClr val="dk1"/>
              </a:solidFill>
              <a:latin typeface="Calibri"/>
              <a:ea typeface="Calibri"/>
              <a:cs typeface="Calibri"/>
              <a:sym typeface="Calibri"/>
            </a:endParaRPr>
          </a:p>
        </p:txBody>
      </p:sp>
      <p:sp>
        <p:nvSpPr>
          <p:cNvPr id="421" name="Google Shape;421;p41"/>
          <p:cNvSpPr/>
          <p:nvPr/>
        </p:nvSpPr>
        <p:spPr>
          <a:xfrm>
            <a:off x="5250656" y="3201071"/>
            <a:ext cx="32859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Reliable ground truth oracles for automated contract resolution across borders.</a:t>
            </a:r>
            <a:endParaRPr b="0" i="0" sz="1234"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2"/>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2"/>
          <p:cNvSpPr/>
          <p:nvPr/>
        </p:nvSpPr>
        <p:spPr>
          <a:xfrm>
            <a:off x="435778" y="272350"/>
            <a:ext cx="55848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2002" u="none" cap="none" strike="noStrike">
                <a:solidFill>
                  <a:srgbClr val="1A1A1A"/>
                </a:solidFill>
                <a:latin typeface="Calibri"/>
                <a:ea typeface="Calibri"/>
                <a:cs typeface="Calibri"/>
                <a:sym typeface="Calibri"/>
              </a:rPr>
              <a:t>Compute-Backed Investment: Investing in Agents</a:t>
            </a:r>
            <a:endParaRPr b="0" i="0" sz="2002" u="none" cap="none" strike="noStrike">
              <a:solidFill>
                <a:schemeClr val="dk1"/>
              </a:solidFill>
              <a:latin typeface="Calibri"/>
              <a:ea typeface="Calibri"/>
              <a:cs typeface="Calibri"/>
              <a:sym typeface="Calibri"/>
            </a:endParaRPr>
          </a:p>
        </p:txBody>
      </p:sp>
      <p:sp>
        <p:nvSpPr>
          <p:cNvPr id="429" name="Google Shape;429;p42"/>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The Compute-Capital Flywheel</a:t>
            </a:r>
            <a:endParaRPr b="0" i="0" sz="1490" u="none" cap="none" strike="noStrike">
              <a:solidFill>
                <a:schemeClr val="dk1"/>
              </a:solidFill>
              <a:latin typeface="Calibri"/>
              <a:ea typeface="Calibri"/>
              <a:cs typeface="Calibri"/>
              <a:sym typeface="Calibri"/>
            </a:endParaRPr>
          </a:p>
        </p:txBody>
      </p:sp>
      <p:sp>
        <p:nvSpPr>
          <p:cNvPr id="430" name="Google Shape;430;p42"/>
          <p:cNvSpPr/>
          <p:nvPr/>
        </p:nvSpPr>
        <p:spPr>
          <a:xfrm>
            <a:off x="435769" y="1514475"/>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342" u="none" cap="none" strike="noStrike">
                <a:solidFill>
                  <a:srgbClr val="2D3436"/>
                </a:solidFill>
                <a:latin typeface="Calibri"/>
                <a:ea typeface="Calibri"/>
                <a:cs typeface="Calibri"/>
                <a:sym typeface="Calibri"/>
              </a:rPr>
              <a:t>By allocating compute credits to agents in exchange for a share of their revenue, we can bootstrap an open ecosystem where capability is not gated by a few hyperscalers.</a:t>
            </a:r>
            <a:endParaRPr b="0" i="0" sz="1342" u="none" cap="none" strike="noStrike">
              <a:solidFill>
                <a:schemeClr val="dk1"/>
              </a:solidFill>
              <a:latin typeface="Calibri"/>
              <a:ea typeface="Calibri"/>
              <a:cs typeface="Calibri"/>
              <a:sym typeface="Calibri"/>
            </a:endParaRPr>
          </a:p>
        </p:txBody>
      </p:sp>
      <p:sp>
        <p:nvSpPr>
          <p:cNvPr id="431" name="Google Shape;431;p42"/>
          <p:cNvSpPr/>
          <p:nvPr/>
        </p:nvSpPr>
        <p:spPr>
          <a:xfrm>
            <a:off x="435769" y="2962569"/>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285" u="none" cap="none" strike="noStrike">
                <a:solidFill>
                  <a:srgbClr val="2D3436"/>
                </a:solidFill>
                <a:latin typeface="Calibri"/>
                <a:ea typeface="Calibri"/>
                <a:cs typeface="Calibri"/>
                <a:sym typeface="Calibri"/>
              </a:rPr>
              <a:t>Mechanism:</a:t>
            </a:r>
            <a:r>
              <a:rPr b="0" i="0" lang="en" sz="1342" u="none" cap="none" strike="noStrike">
                <a:solidFill>
                  <a:srgbClr val="2D3436"/>
                </a:solidFill>
                <a:latin typeface="Calibri"/>
                <a:ea typeface="Calibri"/>
                <a:cs typeface="Calibri"/>
                <a:sym typeface="Calibri"/>
              </a:rPr>
              <a:t> Investors provide the physical substrate (compute) for agent execution, aligning funding directly with measurable agent output and SLAs.</a:t>
            </a:r>
            <a:endParaRPr b="0" i="0" sz="1285" u="none" cap="none" strike="noStrike">
              <a:solidFill>
                <a:schemeClr val="dk1"/>
              </a:solidFill>
              <a:latin typeface="Calibri"/>
              <a:ea typeface="Calibri"/>
              <a:cs typeface="Calibri"/>
              <a:sym typeface="Calibri"/>
            </a:endParaRPr>
          </a:p>
        </p:txBody>
      </p:sp>
      <p:sp>
        <p:nvSpPr>
          <p:cNvPr id="432" name="Google Shape;432;p42"/>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Critical Research Problems</a:t>
            </a:r>
            <a:endParaRPr b="0" i="0" sz="1490" u="none" cap="none" strike="noStrike">
              <a:solidFill>
                <a:schemeClr val="dk1"/>
              </a:solidFill>
              <a:latin typeface="Calibri"/>
              <a:ea typeface="Calibri"/>
              <a:cs typeface="Calibri"/>
              <a:sym typeface="Calibri"/>
            </a:endParaRPr>
          </a:p>
        </p:txBody>
      </p:sp>
      <p:sp>
        <p:nvSpPr>
          <p:cNvPr id="433" name="Google Shape;433;p42"/>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34" name="Google Shape;434;p42"/>
          <p:cNvSpPr/>
          <p:nvPr/>
        </p:nvSpPr>
        <p:spPr>
          <a:xfrm>
            <a:off x="5250647" y="1514475"/>
            <a:ext cx="2665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Verifiable Revenue Attribution:</a:t>
            </a:r>
            <a:endParaRPr b="0" i="0" sz="1184" u="none" cap="none" strike="noStrike">
              <a:solidFill>
                <a:schemeClr val="dk1"/>
              </a:solidFill>
              <a:latin typeface="Calibri"/>
              <a:ea typeface="Calibri"/>
              <a:cs typeface="Calibri"/>
              <a:sym typeface="Calibri"/>
            </a:endParaRPr>
          </a:p>
        </p:txBody>
      </p:sp>
      <p:sp>
        <p:nvSpPr>
          <p:cNvPr id="435" name="Google Shape;435;p42"/>
          <p:cNvSpPr/>
          <p:nvPr/>
        </p:nvSpPr>
        <p:spPr>
          <a:xfrm>
            <a:off x="5250656" y="1727169"/>
            <a:ext cx="32835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Proving which specific work generated profit for investors through cryptographic logs.</a:t>
            </a:r>
            <a:endParaRPr b="0" i="0" sz="1234" u="none" cap="none" strike="noStrike">
              <a:solidFill>
                <a:schemeClr val="dk1"/>
              </a:solidFill>
              <a:latin typeface="Calibri"/>
              <a:ea typeface="Calibri"/>
              <a:cs typeface="Calibri"/>
              <a:sym typeface="Calibri"/>
            </a:endParaRPr>
          </a:p>
        </p:txBody>
      </p:sp>
      <p:sp>
        <p:nvSpPr>
          <p:cNvPr id="436" name="Google Shape;436;p42"/>
          <p:cNvSpPr/>
          <p:nvPr/>
        </p:nvSpPr>
        <p:spPr>
          <a:xfrm>
            <a:off x="5072063" y="2283792"/>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37" name="Google Shape;437;p42"/>
          <p:cNvSpPr/>
          <p:nvPr/>
        </p:nvSpPr>
        <p:spPr>
          <a:xfrm>
            <a:off x="5250645" y="2283800"/>
            <a:ext cx="17406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Safe Constraints:</a:t>
            </a:r>
            <a:endParaRPr b="0" i="0" sz="1184" u="none" cap="none" strike="noStrike">
              <a:solidFill>
                <a:schemeClr val="dk1"/>
              </a:solidFill>
              <a:latin typeface="Calibri"/>
              <a:ea typeface="Calibri"/>
              <a:cs typeface="Calibri"/>
              <a:sym typeface="Calibri"/>
            </a:endParaRPr>
          </a:p>
        </p:txBody>
      </p:sp>
      <p:sp>
        <p:nvSpPr>
          <p:cNvPr id="438" name="Google Shape;438;p42"/>
          <p:cNvSpPr/>
          <p:nvPr/>
        </p:nvSpPr>
        <p:spPr>
          <a:xfrm>
            <a:off x="5250656" y="2505733"/>
            <a:ext cx="3295500" cy="4662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Ensuring that compute investors cannot maliciously "remote-control" agent behavior or access private state.</a:t>
            </a:r>
            <a:endParaRPr b="0" i="0" sz="1234" u="none" cap="none" strike="noStrike">
              <a:solidFill>
                <a:schemeClr val="dk1"/>
              </a:solidFill>
              <a:latin typeface="Calibri"/>
              <a:ea typeface="Calibri"/>
              <a:cs typeface="Calibri"/>
              <a:sym typeface="Calibri"/>
            </a:endParaRPr>
          </a:p>
        </p:txBody>
      </p:sp>
      <p:sp>
        <p:nvSpPr>
          <p:cNvPr id="439" name="Google Shape;439;p42"/>
          <p:cNvSpPr/>
          <p:nvPr/>
        </p:nvSpPr>
        <p:spPr>
          <a:xfrm>
            <a:off x="5072063" y="3273219"/>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40" name="Google Shape;440;p42"/>
          <p:cNvSpPr/>
          <p:nvPr/>
        </p:nvSpPr>
        <p:spPr>
          <a:xfrm>
            <a:off x="5250646" y="3273225"/>
            <a:ext cx="1648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Market Integrity:</a:t>
            </a:r>
            <a:endParaRPr b="0" i="0" sz="1184" u="none" cap="none" strike="noStrike">
              <a:solidFill>
                <a:schemeClr val="dk1"/>
              </a:solidFill>
              <a:latin typeface="Calibri"/>
              <a:ea typeface="Calibri"/>
              <a:cs typeface="Calibri"/>
              <a:sym typeface="Calibri"/>
            </a:endParaRPr>
          </a:p>
        </p:txBody>
      </p:sp>
      <p:sp>
        <p:nvSpPr>
          <p:cNvPr id="441" name="Google Shape;441;p42"/>
          <p:cNvSpPr/>
          <p:nvPr/>
        </p:nvSpPr>
        <p:spPr>
          <a:xfrm>
            <a:off x="5250656" y="3476665"/>
            <a:ext cx="32451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Preventing wash trading and fake performance metrics in decentralized agentic stock markets.</a:t>
            </a:r>
            <a:endParaRPr b="0" i="0" sz="1234"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3"/>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3"/>
          <p:cNvSpPr/>
          <p:nvPr/>
        </p:nvSpPr>
        <p:spPr>
          <a:xfrm>
            <a:off x="435769" y="272355"/>
            <a:ext cx="26775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2002" u="none" cap="none" strike="noStrike">
                <a:solidFill>
                  <a:srgbClr val="1A1A1A"/>
                </a:solidFill>
                <a:latin typeface="Calibri"/>
                <a:ea typeface="Calibri"/>
                <a:cs typeface="Calibri"/>
                <a:sym typeface="Calibri"/>
              </a:rPr>
              <a:t>Native Payment Rails</a:t>
            </a:r>
            <a:endParaRPr b="0" i="0" sz="2002" u="none" cap="none" strike="noStrike">
              <a:solidFill>
                <a:schemeClr val="dk1"/>
              </a:solidFill>
              <a:latin typeface="Calibri"/>
              <a:ea typeface="Calibri"/>
              <a:cs typeface="Calibri"/>
              <a:sym typeface="Calibri"/>
            </a:endParaRPr>
          </a:p>
        </p:txBody>
      </p:sp>
      <p:sp>
        <p:nvSpPr>
          <p:cNvPr id="449" name="Google Shape;449;p43"/>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Automating the Transaction Layer</a:t>
            </a:r>
            <a:endParaRPr b="0" i="0" sz="1490" u="none" cap="none" strike="noStrike">
              <a:solidFill>
                <a:schemeClr val="dk1"/>
              </a:solidFill>
              <a:latin typeface="Calibri"/>
              <a:ea typeface="Calibri"/>
              <a:cs typeface="Calibri"/>
              <a:sym typeface="Calibri"/>
            </a:endParaRPr>
          </a:p>
        </p:txBody>
      </p:sp>
      <p:sp>
        <p:nvSpPr>
          <p:cNvPr id="450" name="Google Shape;450;p43"/>
          <p:cNvSpPr/>
          <p:nvPr/>
        </p:nvSpPr>
        <p:spPr>
          <a:xfrm>
            <a:off x="435769" y="1514475"/>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342" u="none" cap="none" strike="noStrike">
                <a:solidFill>
                  <a:srgbClr val="2D3436"/>
                </a:solidFill>
                <a:latin typeface="Calibri"/>
                <a:ea typeface="Calibri"/>
                <a:cs typeface="Calibri"/>
                <a:sym typeface="Calibri"/>
              </a:rPr>
              <a:t>At scale, agent-to-agent monetization must be low-friction and secure. This requires standard protocols for micropayments, escrow, and automated dispute resolution.</a:t>
            </a:r>
            <a:endParaRPr b="0" i="0" sz="1342" u="none" cap="none" strike="noStrike">
              <a:solidFill>
                <a:schemeClr val="dk1"/>
              </a:solidFill>
              <a:latin typeface="Calibri"/>
              <a:ea typeface="Calibri"/>
              <a:cs typeface="Calibri"/>
              <a:sym typeface="Calibri"/>
            </a:endParaRPr>
          </a:p>
        </p:txBody>
      </p:sp>
      <p:sp>
        <p:nvSpPr>
          <p:cNvPr id="451" name="Google Shape;451;p43"/>
          <p:cNvSpPr/>
          <p:nvPr/>
        </p:nvSpPr>
        <p:spPr>
          <a:xfrm>
            <a:off x="435769" y="3107941"/>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285" u="none" cap="none" strike="noStrike">
                <a:solidFill>
                  <a:srgbClr val="2D3436"/>
                </a:solidFill>
                <a:latin typeface="Calibri"/>
                <a:ea typeface="Calibri"/>
                <a:cs typeface="Calibri"/>
                <a:sym typeface="Calibri"/>
              </a:rPr>
              <a:t>Significance:</a:t>
            </a:r>
            <a:r>
              <a:rPr b="0" i="0" lang="en" sz="1342" u="none" cap="none" strike="noStrike">
                <a:solidFill>
                  <a:srgbClr val="2D3436"/>
                </a:solidFill>
                <a:latin typeface="Calibri"/>
                <a:ea typeface="Calibri"/>
                <a:cs typeface="Calibri"/>
                <a:sym typeface="Calibri"/>
              </a:rPr>
              <a:t> Enables a trillion-agent economy where services are priced and settled instantly, supporting pay-per-call tools and automated subscriptions.</a:t>
            </a:r>
            <a:endParaRPr b="0" i="0" sz="1285" u="none" cap="none" strike="noStrike">
              <a:solidFill>
                <a:schemeClr val="dk1"/>
              </a:solidFill>
              <a:latin typeface="Calibri"/>
              <a:ea typeface="Calibri"/>
              <a:cs typeface="Calibri"/>
              <a:sym typeface="Calibri"/>
            </a:endParaRPr>
          </a:p>
        </p:txBody>
      </p:sp>
      <p:sp>
        <p:nvSpPr>
          <p:cNvPr id="452" name="Google Shape;452;p43"/>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Critical Research Problems</a:t>
            </a:r>
            <a:endParaRPr b="0" i="0" sz="1490" u="none" cap="none" strike="noStrike">
              <a:solidFill>
                <a:schemeClr val="dk1"/>
              </a:solidFill>
              <a:latin typeface="Calibri"/>
              <a:ea typeface="Calibri"/>
              <a:cs typeface="Calibri"/>
              <a:sym typeface="Calibri"/>
            </a:endParaRPr>
          </a:p>
        </p:txBody>
      </p:sp>
      <p:sp>
        <p:nvSpPr>
          <p:cNvPr id="453" name="Google Shape;453;p43"/>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54" name="Google Shape;454;p43"/>
          <p:cNvSpPr/>
          <p:nvPr/>
        </p:nvSpPr>
        <p:spPr>
          <a:xfrm>
            <a:off x="5250647" y="1514475"/>
            <a:ext cx="2138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Payment Interoperability:</a:t>
            </a:r>
            <a:endParaRPr b="0" i="0" sz="1184" u="none" cap="none" strike="noStrike">
              <a:solidFill>
                <a:schemeClr val="dk1"/>
              </a:solidFill>
              <a:latin typeface="Calibri"/>
              <a:ea typeface="Calibri"/>
              <a:cs typeface="Calibri"/>
              <a:sym typeface="Calibri"/>
            </a:endParaRPr>
          </a:p>
        </p:txBody>
      </p:sp>
      <p:sp>
        <p:nvSpPr>
          <p:cNvPr id="455" name="Google Shape;455;p43"/>
          <p:cNvSpPr/>
          <p:nvPr/>
        </p:nvSpPr>
        <p:spPr>
          <a:xfrm>
            <a:off x="5250656" y="1761570"/>
            <a:ext cx="32091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Routing payments across multi-currency endpoints tied to agent identities.</a:t>
            </a:r>
            <a:endParaRPr b="0" i="0" sz="1234" u="none" cap="none" strike="noStrike">
              <a:solidFill>
                <a:schemeClr val="dk1"/>
              </a:solidFill>
              <a:latin typeface="Calibri"/>
              <a:ea typeface="Calibri"/>
              <a:cs typeface="Calibri"/>
              <a:sym typeface="Calibri"/>
            </a:endParaRPr>
          </a:p>
        </p:txBody>
      </p:sp>
      <p:sp>
        <p:nvSpPr>
          <p:cNvPr id="456" name="Google Shape;456;p43"/>
          <p:cNvSpPr/>
          <p:nvPr/>
        </p:nvSpPr>
        <p:spPr>
          <a:xfrm>
            <a:off x="5072063" y="2408079"/>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57" name="Google Shape;457;p43"/>
          <p:cNvSpPr/>
          <p:nvPr/>
        </p:nvSpPr>
        <p:spPr>
          <a:xfrm>
            <a:off x="5250648" y="2408075"/>
            <a:ext cx="23601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Machine-Speed Risk Controls:</a:t>
            </a:r>
            <a:endParaRPr b="0" i="0" sz="1184" u="none" cap="none" strike="noStrike">
              <a:solidFill>
                <a:schemeClr val="dk1"/>
              </a:solidFill>
              <a:latin typeface="Calibri"/>
              <a:ea typeface="Calibri"/>
              <a:cs typeface="Calibri"/>
              <a:sym typeface="Calibri"/>
            </a:endParaRPr>
          </a:p>
        </p:txBody>
      </p:sp>
      <p:sp>
        <p:nvSpPr>
          <p:cNvPr id="458" name="Google Shape;458;p43"/>
          <p:cNvSpPr/>
          <p:nvPr/>
        </p:nvSpPr>
        <p:spPr>
          <a:xfrm>
            <a:off x="5250656" y="2636679"/>
            <a:ext cx="33435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Managing fraud and malicious tool charging without human intervention.</a:t>
            </a:r>
            <a:endParaRPr b="0" i="0" sz="1234" u="none" cap="none" strike="noStrike">
              <a:solidFill>
                <a:schemeClr val="dk1"/>
              </a:solidFill>
              <a:latin typeface="Calibri"/>
              <a:ea typeface="Calibri"/>
              <a:cs typeface="Calibri"/>
              <a:sym typeface="Calibri"/>
            </a:endParaRPr>
          </a:p>
        </p:txBody>
      </p:sp>
      <p:sp>
        <p:nvSpPr>
          <p:cNvPr id="459" name="Google Shape;459;p43"/>
          <p:cNvSpPr/>
          <p:nvPr/>
        </p:nvSpPr>
        <p:spPr>
          <a:xfrm>
            <a:off x="5072063" y="3283189"/>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60" name="Google Shape;460;p43"/>
          <p:cNvSpPr/>
          <p:nvPr/>
        </p:nvSpPr>
        <p:spPr>
          <a:xfrm>
            <a:off x="5250647" y="3283200"/>
            <a:ext cx="20457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Compliance Automation:</a:t>
            </a:r>
            <a:endParaRPr b="0" i="0" sz="1184" u="none" cap="none" strike="noStrike">
              <a:solidFill>
                <a:schemeClr val="dk1"/>
              </a:solidFill>
              <a:latin typeface="Calibri"/>
              <a:ea typeface="Calibri"/>
              <a:cs typeface="Calibri"/>
              <a:sym typeface="Calibri"/>
            </a:endParaRPr>
          </a:p>
        </p:txBody>
      </p:sp>
      <p:sp>
        <p:nvSpPr>
          <p:cNvPr id="461" name="Google Shape;461;p43"/>
          <p:cNvSpPr/>
          <p:nvPr/>
        </p:nvSpPr>
        <p:spPr>
          <a:xfrm>
            <a:off x="5250656" y="3521037"/>
            <a:ext cx="33567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Integrating policy-attested contexts (KYC/AML) into open payment protocols.</a:t>
            </a:r>
            <a:endParaRPr b="0" i="0" sz="1234"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4"/>
          <p:cNvSpPr/>
          <p:nvPr/>
        </p:nvSpPr>
        <p:spPr>
          <a:xfrm>
            <a:off x="7144" y="714375"/>
            <a:ext cx="9129600" cy="144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4"/>
          <p:cNvSpPr/>
          <p:nvPr/>
        </p:nvSpPr>
        <p:spPr>
          <a:xfrm>
            <a:off x="435775" y="272350"/>
            <a:ext cx="7987500" cy="3126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1A1A1A"/>
              </a:buClr>
              <a:buSzPts val="1602"/>
              <a:buFont typeface="Calibri"/>
              <a:buNone/>
            </a:pPr>
            <a:r>
              <a:rPr b="1" i="0" lang="en" sz="2002" u="none" cap="none" strike="noStrike">
                <a:solidFill>
                  <a:srgbClr val="1A1A1A"/>
                </a:solidFill>
                <a:latin typeface="Calibri"/>
                <a:ea typeface="Calibri"/>
                <a:cs typeface="Calibri"/>
                <a:sym typeface="Calibri"/>
              </a:rPr>
              <a:t>Knowledge Markets</a:t>
            </a:r>
            <a:r>
              <a:rPr b="1" lang="en" sz="2002">
                <a:solidFill>
                  <a:srgbClr val="1A1A1A"/>
                </a:solidFill>
                <a:latin typeface="Calibri"/>
                <a:ea typeface="Calibri"/>
                <a:cs typeface="Calibri"/>
                <a:sym typeface="Calibri"/>
              </a:rPr>
              <a:t>:</a:t>
            </a:r>
            <a:r>
              <a:rPr b="1" i="0" lang="en" sz="2002" u="none" cap="none" strike="noStrike">
                <a:solidFill>
                  <a:srgbClr val="1A1A1A"/>
                </a:solidFill>
                <a:latin typeface="Calibri"/>
                <a:ea typeface="Calibri"/>
                <a:cs typeface="Calibri"/>
                <a:sym typeface="Calibri"/>
              </a:rPr>
              <a:t> </a:t>
            </a:r>
            <a:r>
              <a:rPr b="1" lang="en" sz="2002">
                <a:solidFill>
                  <a:srgbClr val="1A1A1A"/>
                </a:solidFill>
                <a:latin typeface="Calibri"/>
                <a:ea typeface="Calibri"/>
                <a:cs typeface="Calibri"/>
                <a:sym typeface="Calibri"/>
              </a:rPr>
              <a:t>Building Reputation Systems and Mechanisms</a:t>
            </a:r>
            <a:endParaRPr b="0" i="0" sz="2002" u="none" cap="none" strike="noStrike">
              <a:solidFill>
                <a:schemeClr val="dk1"/>
              </a:solidFill>
              <a:latin typeface="Calibri"/>
              <a:ea typeface="Calibri"/>
              <a:cs typeface="Calibri"/>
              <a:sym typeface="Calibri"/>
            </a:endParaRPr>
          </a:p>
        </p:txBody>
      </p:sp>
      <p:sp>
        <p:nvSpPr>
          <p:cNvPr id="469" name="Google Shape;469;p44"/>
          <p:cNvSpPr/>
          <p:nvPr/>
        </p:nvSpPr>
        <p:spPr>
          <a:xfrm>
            <a:off x="435769"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High-Signal Discovery</a:t>
            </a:r>
            <a:endParaRPr b="0" i="0" sz="1490" u="none" cap="none" strike="noStrike">
              <a:solidFill>
                <a:schemeClr val="dk1"/>
              </a:solidFill>
              <a:latin typeface="Calibri"/>
              <a:ea typeface="Calibri"/>
              <a:cs typeface="Calibri"/>
              <a:sym typeface="Calibri"/>
            </a:endParaRPr>
          </a:p>
        </p:txBody>
      </p:sp>
      <p:sp>
        <p:nvSpPr>
          <p:cNvPr id="470" name="Google Shape;470;p44"/>
          <p:cNvSpPr/>
          <p:nvPr/>
        </p:nvSpPr>
        <p:spPr>
          <a:xfrm>
            <a:off x="435769" y="1514475"/>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942"/>
              <a:buFont typeface="Calibri"/>
              <a:buNone/>
            </a:pPr>
            <a:r>
              <a:rPr b="0" i="0" lang="en" sz="1342" u="none" cap="none" strike="noStrike">
                <a:solidFill>
                  <a:srgbClr val="2D3436"/>
                </a:solidFill>
                <a:latin typeface="Calibri"/>
                <a:ea typeface="Calibri"/>
                <a:cs typeface="Calibri"/>
                <a:sym typeface="Calibri"/>
              </a:rPr>
              <a:t>To avoid gatekeeping by scrapers and aggregators, we need a market where agents buy and sell knowledge access, supported by a robust, game-resistant reputation layer.</a:t>
            </a:r>
            <a:endParaRPr b="0" i="0" sz="1342" u="none" cap="none" strike="noStrike">
              <a:solidFill>
                <a:schemeClr val="dk1"/>
              </a:solidFill>
              <a:latin typeface="Calibri"/>
              <a:ea typeface="Calibri"/>
              <a:cs typeface="Calibri"/>
              <a:sym typeface="Calibri"/>
            </a:endParaRPr>
          </a:p>
        </p:txBody>
      </p:sp>
      <p:sp>
        <p:nvSpPr>
          <p:cNvPr id="471" name="Google Shape;471;p44"/>
          <p:cNvSpPr/>
          <p:nvPr/>
        </p:nvSpPr>
        <p:spPr>
          <a:xfrm>
            <a:off x="435769" y="3031741"/>
            <a:ext cx="39219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2D3436"/>
              </a:buClr>
              <a:buSzPts val="885"/>
              <a:buFont typeface="Calibri"/>
              <a:buNone/>
            </a:pPr>
            <a:r>
              <a:rPr b="1" i="0" lang="en" sz="1285" u="none" cap="none" strike="noStrike">
                <a:solidFill>
                  <a:srgbClr val="2D3436"/>
                </a:solidFill>
                <a:latin typeface="Calibri"/>
                <a:ea typeface="Calibri"/>
                <a:cs typeface="Calibri"/>
                <a:sym typeface="Calibri"/>
              </a:rPr>
              <a:t>Objective:</a:t>
            </a:r>
            <a:r>
              <a:rPr b="0" i="0" lang="en" sz="1342" u="none" cap="none" strike="noStrike">
                <a:solidFill>
                  <a:srgbClr val="2D3436"/>
                </a:solidFill>
                <a:latin typeface="Calibri"/>
                <a:ea typeface="Calibri"/>
                <a:cs typeface="Calibri"/>
                <a:sym typeface="Calibri"/>
              </a:rPr>
              <a:t> Prevent the ecosystem from re-centralizing by ensuring that discovery is based on verifiable quality and performance rather than centralized indexing.</a:t>
            </a:r>
            <a:endParaRPr b="0" i="0" sz="1285" u="none" cap="none" strike="noStrike">
              <a:solidFill>
                <a:schemeClr val="dk1"/>
              </a:solidFill>
              <a:latin typeface="Calibri"/>
              <a:ea typeface="Calibri"/>
              <a:cs typeface="Calibri"/>
              <a:sym typeface="Calibri"/>
            </a:endParaRPr>
          </a:p>
        </p:txBody>
      </p:sp>
      <p:sp>
        <p:nvSpPr>
          <p:cNvPr id="472" name="Google Shape;472;p44"/>
          <p:cNvSpPr/>
          <p:nvPr/>
        </p:nvSpPr>
        <p:spPr>
          <a:xfrm>
            <a:off x="4786313" y="1157288"/>
            <a:ext cx="3921900" cy="214200"/>
          </a:xfrm>
          <a:prstGeom prst="rect">
            <a:avLst/>
          </a:prstGeom>
          <a:noFill/>
          <a:ln>
            <a:noFill/>
          </a:ln>
        </p:spPr>
        <p:txBody>
          <a:bodyPr anchorCtr="0" anchor="t" bIns="0" lIns="127500" spcFirstLastPara="1" rIns="0" wrap="square" tIns="0">
            <a:noAutofit/>
          </a:bodyPr>
          <a:lstStyle/>
          <a:p>
            <a:pPr indent="0" lvl="0" marL="0" marR="0" rtl="0" algn="l">
              <a:lnSpc>
                <a:spcPct val="137614"/>
              </a:lnSpc>
              <a:spcBef>
                <a:spcPts val="0"/>
              </a:spcBef>
              <a:spcAft>
                <a:spcPts val="0"/>
              </a:spcAft>
              <a:buClr>
                <a:srgbClr val="2980B9"/>
              </a:buClr>
              <a:buSzPts val="1090"/>
              <a:buFont typeface="Calibri"/>
              <a:buNone/>
            </a:pPr>
            <a:r>
              <a:rPr b="1" i="0" lang="en" sz="1490" u="none" cap="none" strike="noStrike">
                <a:solidFill>
                  <a:srgbClr val="2980B9"/>
                </a:solidFill>
                <a:latin typeface="Calibri"/>
                <a:ea typeface="Calibri"/>
                <a:cs typeface="Calibri"/>
                <a:sym typeface="Calibri"/>
              </a:rPr>
              <a:t>Critical Research Problems</a:t>
            </a:r>
            <a:endParaRPr b="0" i="0" sz="1490" u="none" cap="none" strike="noStrike">
              <a:solidFill>
                <a:schemeClr val="dk1"/>
              </a:solidFill>
              <a:latin typeface="Calibri"/>
              <a:ea typeface="Calibri"/>
              <a:cs typeface="Calibri"/>
              <a:sym typeface="Calibri"/>
            </a:endParaRPr>
          </a:p>
        </p:txBody>
      </p:sp>
      <p:sp>
        <p:nvSpPr>
          <p:cNvPr id="473" name="Google Shape;473;p44"/>
          <p:cNvSpPr/>
          <p:nvPr/>
        </p:nvSpPr>
        <p:spPr>
          <a:xfrm>
            <a:off x="5072063" y="1514475"/>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74" name="Google Shape;474;p44"/>
          <p:cNvSpPr/>
          <p:nvPr/>
        </p:nvSpPr>
        <p:spPr>
          <a:xfrm>
            <a:off x="5250648" y="1514475"/>
            <a:ext cx="19440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Outcome-Based Scoring:</a:t>
            </a:r>
            <a:endParaRPr b="0" i="0" sz="1184" u="none" cap="none" strike="noStrike">
              <a:solidFill>
                <a:schemeClr val="dk1"/>
              </a:solidFill>
              <a:latin typeface="Calibri"/>
              <a:ea typeface="Calibri"/>
              <a:cs typeface="Calibri"/>
              <a:sym typeface="Calibri"/>
            </a:endParaRPr>
          </a:p>
        </p:txBody>
      </p:sp>
      <p:sp>
        <p:nvSpPr>
          <p:cNvPr id="475" name="Google Shape;475;p44"/>
          <p:cNvSpPr/>
          <p:nvPr/>
        </p:nvSpPr>
        <p:spPr>
          <a:xfrm>
            <a:off x="5250656" y="1773037"/>
            <a:ext cx="32634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Combining attestations with verifiable performance to build trust in knowledge providers.</a:t>
            </a:r>
            <a:endParaRPr b="0" i="0" sz="1234" u="none" cap="none" strike="noStrike">
              <a:solidFill>
                <a:schemeClr val="dk1"/>
              </a:solidFill>
              <a:latin typeface="Calibri"/>
              <a:ea typeface="Calibri"/>
              <a:cs typeface="Calibri"/>
              <a:sym typeface="Calibri"/>
            </a:endParaRPr>
          </a:p>
        </p:txBody>
      </p:sp>
      <p:sp>
        <p:nvSpPr>
          <p:cNvPr id="476" name="Google Shape;476;p44"/>
          <p:cNvSpPr/>
          <p:nvPr/>
        </p:nvSpPr>
        <p:spPr>
          <a:xfrm>
            <a:off x="5072063" y="2419546"/>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77" name="Google Shape;477;p44"/>
          <p:cNvSpPr/>
          <p:nvPr/>
        </p:nvSpPr>
        <p:spPr>
          <a:xfrm>
            <a:off x="5250647" y="2419550"/>
            <a:ext cx="18237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lang="en" sz="1184">
                <a:solidFill>
                  <a:srgbClr val="2D3436"/>
                </a:solidFill>
                <a:latin typeface="Calibri"/>
                <a:ea typeface="Calibri"/>
                <a:cs typeface="Calibri"/>
                <a:sym typeface="Calibri"/>
              </a:rPr>
              <a:t>Network scores:</a:t>
            </a:r>
            <a:endParaRPr b="0" i="0" sz="1184" u="none" cap="none" strike="noStrike">
              <a:solidFill>
                <a:schemeClr val="dk1"/>
              </a:solidFill>
              <a:latin typeface="Calibri"/>
              <a:ea typeface="Calibri"/>
              <a:cs typeface="Calibri"/>
              <a:sym typeface="Calibri"/>
            </a:endParaRPr>
          </a:p>
        </p:txBody>
      </p:sp>
      <p:sp>
        <p:nvSpPr>
          <p:cNvPr id="478" name="Google Shape;478;p44"/>
          <p:cNvSpPr/>
          <p:nvPr/>
        </p:nvSpPr>
        <p:spPr>
          <a:xfrm>
            <a:off x="5250656" y="2648146"/>
            <a:ext cx="32142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lang="en" sz="1234">
                <a:solidFill>
                  <a:srgbClr val="2D3436"/>
                </a:solidFill>
                <a:latin typeface="Calibri"/>
                <a:ea typeface="Calibri"/>
                <a:cs typeface="Calibri"/>
                <a:sym typeface="Calibri"/>
              </a:rPr>
              <a:t>Building a network structure for the agentic web by enabling agents to mutually score each other for interactions</a:t>
            </a:r>
            <a:endParaRPr b="0" i="0" sz="1234" u="none" cap="none" strike="noStrike">
              <a:solidFill>
                <a:schemeClr val="dk1"/>
              </a:solidFill>
              <a:latin typeface="Calibri"/>
              <a:ea typeface="Calibri"/>
              <a:cs typeface="Calibri"/>
              <a:sym typeface="Calibri"/>
            </a:endParaRPr>
          </a:p>
        </p:txBody>
      </p:sp>
      <p:sp>
        <p:nvSpPr>
          <p:cNvPr id="479" name="Google Shape;479;p44"/>
          <p:cNvSpPr/>
          <p:nvPr/>
        </p:nvSpPr>
        <p:spPr>
          <a:xfrm>
            <a:off x="5072063" y="3489623"/>
            <a:ext cx="429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980B9"/>
              </a:buClr>
              <a:buSzPts val="784"/>
              <a:buFont typeface="Calibri"/>
              <a:buNone/>
            </a:pPr>
            <a:r>
              <a:rPr b="1" i="0" lang="en" sz="1184" u="none" cap="none" strike="noStrike">
                <a:solidFill>
                  <a:srgbClr val="2980B9"/>
                </a:solidFill>
                <a:latin typeface="Calibri"/>
                <a:ea typeface="Calibri"/>
                <a:cs typeface="Calibri"/>
                <a:sym typeface="Calibri"/>
              </a:rPr>
              <a:t>•</a:t>
            </a:r>
            <a:endParaRPr b="0" i="0" sz="1184" u="none" cap="none" strike="noStrike">
              <a:solidFill>
                <a:schemeClr val="dk1"/>
              </a:solidFill>
              <a:latin typeface="Calibri"/>
              <a:ea typeface="Calibri"/>
              <a:cs typeface="Calibri"/>
              <a:sym typeface="Calibri"/>
            </a:endParaRPr>
          </a:p>
        </p:txBody>
      </p:sp>
      <p:sp>
        <p:nvSpPr>
          <p:cNvPr id="480" name="Google Shape;480;p44"/>
          <p:cNvSpPr/>
          <p:nvPr/>
        </p:nvSpPr>
        <p:spPr>
          <a:xfrm>
            <a:off x="5250647" y="3453073"/>
            <a:ext cx="17406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2D3436"/>
              </a:buClr>
              <a:buSzPts val="784"/>
              <a:buFont typeface="Calibri"/>
              <a:buNone/>
            </a:pPr>
            <a:r>
              <a:rPr b="1" i="0" lang="en" sz="1184" u="none" cap="none" strike="noStrike">
                <a:solidFill>
                  <a:srgbClr val="2D3436"/>
                </a:solidFill>
                <a:latin typeface="Calibri"/>
                <a:ea typeface="Calibri"/>
                <a:cs typeface="Calibri"/>
                <a:sym typeface="Calibri"/>
              </a:rPr>
              <a:t>Incentive Alignment:</a:t>
            </a:r>
            <a:endParaRPr b="0" i="0" sz="1184" u="none" cap="none" strike="noStrike">
              <a:solidFill>
                <a:schemeClr val="dk1"/>
              </a:solidFill>
              <a:latin typeface="Calibri"/>
              <a:ea typeface="Calibri"/>
              <a:cs typeface="Calibri"/>
              <a:sym typeface="Calibri"/>
            </a:endParaRPr>
          </a:p>
        </p:txBody>
      </p:sp>
      <p:sp>
        <p:nvSpPr>
          <p:cNvPr id="481" name="Google Shape;481;p44"/>
          <p:cNvSpPr/>
          <p:nvPr/>
        </p:nvSpPr>
        <p:spPr>
          <a:xfrm>
            <a:off x="5250656" y="3681679"/>
            <a:ext cx="2968200" cy="3108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2D3436"/>
              </a:buClr>
              <a:buSzPts val="834"/>
              <a:buFont typeface="Calibri"/>
              <a:buNone/>
            </a:pPr>
            <a:r>
              <a:rPr b="0" i="0" lang="en" sz="1234" u="none" cap="none" strike="noStrike">
                <a:solidFill>
                  <a:srgbClr val="2D3436"/>
                </a:solidFill>
                <a:latin typeface="Calibri"/>
                <a:ea typeface="Calibri"/>
                <a:cs typeface="Calibri"/>
                <a:sym typeface="Calibri"/>
              </a:rPr>
              <a:t>Fairly compensating originators, curators, and verifiers in a shared knowledge graph.</a:t>
            </a:r>
            <a:endParaRPr b="0" i="0" sz="1234"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5"/>
          <p:cNvSpPr/>
          <p:nvPr/>
        </p:nvSpPr>
        <p:spPr>
          <a:xfrm>
            <a:off x="642938" y="665345"/>
            <a:ext cx="7858200" cy="660000"/>
          </a:xfrm>
          <a:prstGeom prst="rect">
            <a:avLst/>
          </a:prstGeom>
          <a:noFill/>
          <a:ln>
            <a:noFill/>
          </a:ln>
        </p:spPr>
        <p:txBody>
          <a:bodyPr anchorCtr="0" anchor="t" bIns="0" lIns="0" spcFirstLastPara="1" rIns="0" wrap="square" tIns="0">
            <a:noAutofit/>
          </a:bodyPr>
          <a:lstStyle/>
          <a:p>
            <a:pPr indent="0" lvl="0" marL="0" marR="0" rtl="0" algn="ctr">
              <a:lnSpc>
                <a:spcPct val="122583"/>
              </a:lnSpc>
              <a:spcBef>
                <a:spcPts val="0"/>
              </a:spcBef>
              <a:spcAft>
                <a:spcPts val="0"/>
              </a:spcAft>
              <a:buClr>
                <a:srgbClr val="1A1A1A"/>
              </a:buClr>
              <a:buSzPts val="2121"/>
              <a:buFont typeface="Calibri"/>
              <a:buNone/>
            </a:pPr>
            <a:r>
              <a:rPr b="1" i="0" lang="en" sz="2621" u="none" cap="none" strike="noStrike">
                <a:solidFill>
                  <a:srgbClr val="1A1A1A"/>
                </a:solidFill>
                <a:latin typeface="Calibri"/>
                <a:ea typeface="Calibri"/>
                <a:cs typeface="Calibri"/>
                <a:sym typeface="Calibri"/>
              </a:rPr>
              <a:t>Open Infrastructure Research Problems for the Agentic Web</a:t>
            </a:r>
            <a:endParaRPr b="0" i="0" sz="2621" u="none" cap="none" strike="noStrike">
              <a:solidFill>
                <a:schemeClr val="dk1"/>
              </a:solidFill>
              <a:latin typeface="Calibri"/>
              <a:ea typeface="Calibri"/>
              <a:cs typeface="Calibri"/>
              <a:sym typeface="Calibri"/>
            </a:endParaRPr>
          </a:p>
        </p:txBody>
      </p:sp>
      <p:sp>
        <p:nvSpPr>
          <p:cNvPr id="488" name="Google Shape;488;p45"/>
          <p:cNvSpPr/>
          <p:nvPr/>
        </p:nvSpPr>
        <p:spPr>
          <a:xfrm>
            <a:off x="642938"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5"/>
          <p:cNvSpPr/>
          <p:nvPr/>
        </p:nvSpPr>
        <p:spPr>
          <a:xfrm>
            <a:off x="642938"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5"/>
          <p:cNvSpPr/>
          <p:nvPr/>
        </p:nvSpPr>
        <p:spPr>
          <a:xfrm>
            <a:off x="3159909"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5"/>
          <p:cNvSpPr/>
          <p:nvPr/>
        </p:nvSpPr>
        <p:spPr>
          <a:xfrm>
            <a:off x="642938"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5"/>
          <p:cNvSpPr/>
          <p:nvPr/>
        </p:nvSpPr>
        <p:spPr>
          <a:xfrm>
            <a:off x="642938"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5"/>
          <p:cNvSpPr/>
          <p:nvPr/>
        </p:nvSpPr>
        <p:spPr>
          <a:xfrm>
            <a:off x="642938"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1. Distributed Compute Sharing</a:t>
            </a:r>
            <a:endParaRPr b="0" i="0" sz="1183" u="none" cap="none" strike="noStrike">
              <a:solidFill>
                <a:schemeClr val="dk1"/>
              </a:solidFill>
              <a:latin typeface="Calibri"/>
              <a:ea typeface="Calibri"/>
              <a:cs typeface="Calibri"/>
              <a:sym typeface="Calibri"/>
            </a:endParaRPr>
          </a:p>
        </p:txBody>
      </p:sp>
      <p:sp>
        <p:nvSpPr>
          <p:cNvPr id="494" name="Google Shape;494;p45"/>
          <p:cNvSpPr/>
          <p:nvPr/>
        </p:nvSpPr>
        <p:spPr>
          <a:xfrm>
            <a:off x="3309928"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5"/>
          <p:cNvSpPr/>
          <p:nvPr/>
        </p:nvSpPr>
        <p:spPr>
          <a:xfrm>
            <a:off x="3309928"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5"/>
          <p:cNvSpPr/>
          <p:nvPr/>
        </p:nvSpPr>
        <p:spPr>
          <a:xfrm>
            <a:off x="5826900"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5"/>
          <p:cNvSpPr/>
          <p:nvPr/>
        </p:nvSpPr>
        <p:spPr>
          <a:xfrm>
            <a:off x="3309928"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5"/>
          <p:cNvSpPr/>
          <p:nvPr/>
        </p:nvSpPr>
        <p:spPr>
          <a:xfrm>
            <a:off x="3309928"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5"/>
          <p:cNvSpPr/>
          <p:nvPr/>
        </p:nvSpPr>
        <p:spPr>
          <a:xfrm>
            <a:off x="3309928"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2. Decentralized Data Sharing</a:t>
            </a:r>
            <a:endParaRPr b="0" i="0" sz="1183" u="none" cap="none" strike="noStrike">
              <a:solidFill>
                <a:schemeClr val="dk1"/>
              </a:solidFill>
              <a:latin typeface="Calibri"/>
              <a:ea typeface="Calibri"/>
              <a:cs typeface="Calibri"/>
              <a:sym typeface="Calibri"/>
            </a:endParaRPr>
          </a:p>
        </p:txBody>
      </p:sp>
      <p:sp>
        <p:nvSpPr>
          <p:cNvPr id="500" name="Google Shape;500;p45"/>
          <p:cNvSpPr/>
          <p:nvPr/>
        </p:nvSpPr>
        <p:spPr>
          <a:xfrm>
            <a:off x="5976919" y="1948709"/>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5"/>
          <p:cNvSpPr/>
          <p:nvPr/>
        </p:nvSpPr>
        <p:spPr>
          <a:xfrm>
            <a:off x="5976919" y="1948709"/>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5"/>
          <p:cNvSpPr/>
          <p:nvPr/>
        </p:nvSpPr>
        <p:spPr>
          <a:xfrm>
            <a:off x="8493919" y="1948709"/>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5"/>
          <p:cNvSpPr/>
          <p:nvPr/>
        </p:nvSpPr>
        <p:spPr>
          <a:xfrm>
            <a:off x="5976919" y="2598790"/>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5"/>
          <p:cNvSpPr/>
          <p:nvPr/>
        </p:nvSpPr>
        <p:spPr>
          <a:xfrm>
            <a:off x="5976919" y="1948709"/>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5"/>
          <p:cNvSpPr/>
          <p:nvPr/>
        </p:nvSpPr>
        <p:spPr>
          <a:xfrm>
            <a:off x="5976919" y="1948709"/>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3. Domain-Specific Playbooks</a:t>
            </a:r>
            <a:endParaRPr b="0" i="0" sz="1183" u="none" cap="none" strike="noStrike">
              <a:solidFill>
                <a:schemeClr val="dk1"/>
              </a:solidFill>
              <a:latin typeface="Calibri"/>
              <a:ea typeface="Calibri"/>
              <a:cs typeface="Calibri"/>
              <a:sym typeface="Calibri"/>
            </a:endParaRPr>
          </a:p>
        </p:txBody>
      </p:sp>
      <p:sp>
        <p:nvSpPr>
          <p:cNvPr id="506" name="Google Shape;506;p45"/>
          <p:cNvSpPr/>
          <p:nvPr/>
        </p:nvSpPr>
        <p:spPr>
          <a:xfrm>
            <a:off x="642938"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5"/>
          <p:cNvSpPr/>
          <p:nvPr/>
        </p:nvSpPr>
        <p:spPr>
          <a:xfrm>
            <a:off x="642938"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5"/>
          <p:cNvSpPr/>
          <p:nvPr/>
        </p:nvSpPr>
        <p:spPr>
          <a:xfrm>
            <a:off x="3159909"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5"/>
          <p:cNvSpPr/>
          <p:nvPr/>
        </p:nvSpPr>
        <p:spPr>
          <a:xfrm>
            <a:off x="642938"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5"/>
          <p:cNvSpPr/>
          <p:nvPr/>
        </p:nvSpPr>
        <p:spPr>
          <a:xfrm>
            <a:off x="642938"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5"/>
          <p:cNvSpPr/>
          <p:nvPr/>
        </p:nvSpPr>
        <p:spPr>
          <a:xfrm>
            <a:off x="642938"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4. Cross-Framework Teaming</a:t>
            </a:r>
            <a:endParaRPr b="0" i="0" sz="1183" u="none" cap="none" strike="noStrike">
              <a:solidFill>
                <a:schemeClr val="dk1"/>
              </a:solidFill>
              <a:latin typeface="Calibri"/>
              <a:ea typeface="Calibri"/>
              <a:cs typeface="Calibri"/>
              <a:sym typeface="Calibri"/>
            </a:endParaRPr>
          </a:p>
        </p:txBody>
      </p:sp>
      <p:sp>
        <p:nvSpPr>
          <p:cNvPr id="512" name="Google Shape;512;p45"/>
          <p:cNvSpPr/>
          <p:nvPr/>
        </p:nvSpPr>
        <p:spPr>
          <a:xfrm>
            <a:off x="3309928"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5"/>
          <p:cNvSpPr/>
          <p:nvPr/>
        </p:nvSpPr>
        <p:spPr>
          <a:xfrm>
            <a:off x="3309928"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5"/>
          <p:cNvSpPr/>
          <p:nvPr/>
        </p:nvSpPr>
        <p:spPr>
          <a:xfrm>
            <a:off x="5826900"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5"/>
          <p:cNvSpPr/>
          <p:nvPr/>
        </p:nvSpPr>
        <p:spPr>
          <a:xfrm>
            <a:off x="3309928"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5"/>
          <p:cNvSpPr/>
          <p:nvPr/>
        </p:nvSpPr>
        <p:spPr>
          <a:xfrm>
            <a:off x="3309928"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5"/>
          <p:cNvSpPr/>
          <p:nvPr/>
        </p:nvSpPr>
        <p:spPr>
          <a:xfrm>
            <a:off x="3309928"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5. Paper-Agents Networks</a:t>
            </a:r>
            <a:endParaRPr b="0" i="0" sz="1183" u="none" cap="none" strike="noStrike">
              <a:solidFill>
                <a:schemeClr val="dk1"/>
              </a:solidFill>
              <a:latin typeface="Calibri"/>
              <a:ea typeface="Calibri"/>
              <a:cs typeface="Calibri"/>
              <a:sym typeface="Calibri"/>
            </a:endParaRPr>
          </a:p>
        </p:txBody>
      </p:sp>
      <p:sp>
        <p:nvSpPr>
          <p:cNvPr id="518" name="Google Shape;518;p45"/>
          <p:cNvSpPr/>
          <p:nvPr/>
        </p:nvSpPr>
        <p:spPr>
          <a:xfrm>
            <a:off x="5976919" y="2734521"/>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5"/>
          <p:cNvSpPr/>
          <p:nvPr/>
        </p:nvSpPr>
        <p:spPr>
          <a:xfrm>
            <a:off x="5976919" y="2734521"/>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5"/>
          <p:cNvSpPr/>
          <p:nvPr/>
        </p:nvSpPr>
        <p:spPr>
          <a:xfrm>
            <a:off x="8493919" y="2734521"/>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5"/>
          <p:cNvSpPr/>
          <p:nvPr/>
        </p:nvSpPr>
        <p:spPr>
          <a:xfrm>
            <a:off x="5976919" y="3384603"/>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5"/>
          <p:cNvSpPr/>
          <p:nvPr/>
        </p:nvSpPr>
        <p:spPr>
          <a:xfrm>
            <a:off x="5976919" y="2734521"/>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5"/>
          <p:cNvSpPr/>
          <p:nvPr/>
        </p:nvSpPr>
        <p:spPr>
          <a:xfrm>
            <a:off x="5976919" y="2734521"/>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6. Agent Prediction Markets</a:t>
            </a:r>
            <a:endParaRPr b="0" i="0" sz="1183" u="none" cap="none" strike="noStrike">
              <a:solidFill>
                <a:schemeClr val="dk1"/>
              </a:solidFill>
              <a:latin typeface="Calibri"/>
              <a:ea typeface="Calibri"/>
              <a:cs typeface="Calibri"/>
              <a:sym typeface="Calibri"/>
            </a:endParaRPr>
          </a:p>
        </p:txBody>
      </p:sp>
      <p:sp>
        <p:nvSpPr>
          <p:cNvPr id="524" name="Google Shape;524;p45"/>
          <p:cNvSpPr/>
          <p:nvPr/>
        </p:nvSpPr>
        <p:spPr>
          <a:xfrm>
            <a:off x="642938"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5"/>
          <p:cNvSpPr/>
          <p:nvPr/>
        </p:nvSpPr>
        <p:spPr>
          <a:xfrm>
            <a:off x="642938"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5"/>
          <p:cNvSpPr/>
          <p:nvPr/>
        </p:nvSpPr>
        <p:spPr>
          <a:xfrm>
            <a:off x="3159909"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5"/>
          <p:cNvSpPr/>
          <p:nvPr/>
        </p:nvSpPr>
        <p:spPr>
          <a:xfrm>
            <a:off x="642938"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5"/>
          <p:cNvSpPr/>
          <p:nvPr/>
        </p:nvSpPr>
        <p:spPr>
          <a:xfrm>
            <a:off x="642938"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5"/>
          <p:cNvSpPr/>
          <p:nvPr/>
        </p:nvSpPr>
        <p:spPr>
          <a:xfrm>
            <a:off x="642938"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7. Compute-Backed Investment</a:t>
            </a:r>
            <a:endParaRPr b="0" i="0" sz="1183" u="none" cap="none" strike="noStrike">
              <a:solidFill>
                <a:schemeClr val="dk1"/>
              </a:solidFill>
              <a:latin typeface="Calibri"/>
              <a:ea typeface="Calibri"/>
              <a:cs typeface="Calibri"/>
              <a:sym typeface="Calibri"/>
            </a:endParaRPr>
          </a:p>
        </p:txBody>
      </p:sp>
      <p:sp>
        <p:nvSpPr>
          <p:cNvPr id="530" name="Google Shape;530;p45"/>
          <p:cNvSpPr/>
          <p:nvPr/>
        </p:nvSpPr>
        <p:spPr>
          <a:xfrm>
            <a:off x="3309928"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5"/>
          <p:cNvSpPr/>
          <p:nvPr/>
        </p:nvSpPr>
        <p:spPr>
          <a:xfrm>
            <a:off x="3309928"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5"/>
          <p:cNvSpPr/>
          <p:nvPr/>
        </p:nvSpPr>
        <p:spPr>
          <a:xfrm>
            <a:off x="5826900"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5"/>
          <p:cNvSpPr/>
          <p:nvPr/>
        </p:nvSpPr>
        <p:spPr>
          <a:xfrm>
            <a:off x="3309928"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5"/>
          <p:cNvSpPr/>
          <p:nvPr/>
        </p:nvSpPr>
        <p:spPr>
          <a:xfrm>
            <a:off x="3309928"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5"/>
          <p:cNvSpPr/>
          <p:nvPr/>
        </p:nvSpPr>
        <p:spPr>
          <a:xfrm>
            <a:off x="3309928"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8. Native Payment Rails</a:t>
            </a:r>
            <a:endParaRPr b="0" i="0" sz="1183" u="none" cap="none" strike="noStrike">
              <a:solidFill>
                <a:schemeClr val="dk1"/>
              </a:solidFill>
              <a:latin typeface="Calibri"/>
              <a:ea typeface="Calibri"/>
              <a:cs typeface="Calibri"/>
              <a:sym typeface="Calibri"/>
            </a:endParaRPr>
          </a:p>
        </p:txBody>
      </p:sp>
      <p:sp>
        <p:nvSpPr>
          <p:cNvPr id="536" name="Google Shape;536;p45"/>
          <p:cNvSpPr/>
          <p:nvPr/>
        </p:nvSpPr>
        <p:spPr>
          <a:xfrm>
            <a:off x="5976919" y="3520334"/>
            <a:ext cx="2524200" cy="657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5"/>
          <p:cNvSpPr/>
          <p:nvPr/>
        </p:nvSpPr>
        <p:spPr>
          <a:xfrm>
            <a:off x="5976919" y="3520334"/>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5"/>
          <p:cNvSpPr/>
          <p:nvPr/>
        </p:nvSpPr>
        <p:spPr>
          <a:xfrm>
            <a:off x="8493919" y="3520334"/>
            <a:ext cx="7200" cy="6573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5"/>
          <p:cNvSpPr/>
          <p:nvPr/>
        </p:nvSpPr>
        <p:spPr>
          <a:xfrm>
            <a:off x="5976919" y="4170415"/>
            <a:ext cx="2524200" cy="72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5"/>
          <p:cNvSpPr/>
          <p:nvPr/>
        </p:nvSpPr>
        <p:spPr>
          <a:xfrm>
            <a:off x="5976919" y="3520334"/>
            <a:ext cx="28500" cy="657300"/>
          </a:xfrm>
          <a:prstGeom prst="rect">
            <a:avLst/>
          </a:pr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5"/>
          <p:cNvSpPr/>
          <p:nvPr/>
        </p:nvSpPr>
        <p:spPr>
          <a:xfrm>
            <a:off x="5976919" y="3520334"/>
            <a:ext cx="2524200" cy="657300"/>
          </a:xfrm>
          <a:prstGeom prst="rect">
            <a:avLst/>
          </a:prstGeom>
          <a:noFill/>
          <a:ln>
            <a:noFill/>
          </a:ln>
        </p:spPr>
        <p:txBody>
          <a:bodyPr anchorCtr="0" anchor="ctr" bIns="127500" lIns="127500" spcFirstLastPara="1" rIns="127500" wrap="square" tIns="127500">
            <a:noAutofit/>
          </a:bodyPr>
          <a:lstStyle/>
          <a:p>
            <a:pPr indent="0" lvl="0" marL="0" marR="0" rtl="0" algn="ctr">
              <a:lnSpc>
                <a:spcPct val="131771"/>
              </a:lnSpc>
              <a:spcBef>
                <a:spcPts val="0"/>
              </a:spcBef>
              <a:spcAft>
                <a:spcPts val="0"/>
              </a:spcAft>
              <a:buClr>
                <a:srgbClr val="333842"/>
              </a:buClr>
              <a:buSzPts val="683"/>
              <a:buFont typeface="Calibri"/>
              <a:buNone/>
            </a:pPr>
            <a:r>
              <a:rPr b="1" i="0" lang="en" sz="1183" u="none" cap="none" strike="noStrike">
                <a:solidFill>
                  <a:srgbClr val="333842"/>
                </a:solidFill>
                <a:latin typeface="Calibri"/>
                <a:ea typeface="Calibri"/>
                <a:cs typeface="Calibri"/>
                <a:sym typeface="Calibri"/>
              </a:rPr>
              <a:t>9. Knowledge Markets &amp; Reputation</a:t>
            </a:r>
            <a:endParaRPr b="0" i="0" sz="1183"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